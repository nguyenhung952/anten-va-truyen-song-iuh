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3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53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72.wmf"/><Relationship Id="rId7" Type="http://schemas.openxmlformats.org/officeDocument/2006/relationships/image" Target="../media/image71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2" Type="http://schemas.openxmlformats.org/officeDocument/2006/relationships/image" Target="../media/image76.wmf"/><Relationship Id="rId11" Type="http://schemas.openxmlformats.org/officeDocument/2006/relationships/image" Target="../media/image75.wmf"/><Relationship Id="rId10" Type="http://schemas.openxmlformats.org/officeDocument/2006/relationships/image" Target="../media/image74.wmf"/><Relationship Id="rId1" Type="http://schemas.openxmlformats.org/officeDocument/2006/relationships/image" Target="../media/image62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7" Type="http://schemas.openxmlformats.org/officeDocument/2006/relationships/image" Target="../media/image101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wmf"/><Relationship Id="rId8" Type="http://schemas.openxmlformats.org/officeDocument/2006/relationships/image" Target="../media/image107.wmf"/><Relationship Id="rId7" Type="http://schemas.openxmlformats.org/officeDocument/2006/relationships/image" Target="../media/image106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6" Type="http://schemas.openxmlformats.org/officeDocument/2006/relationships/image" Target="../media/image115.wmf"/><Relationship Id="rId15" Type="http://schemas.openxmlformats.org/officeDocument/2006/relationships/image" Target="../media/image114.wmf"/><Relationship Id="rId14" Type="http://schemas.openxmlformats.org/officeDocument/2006/relationships/image" Target="../media/image113.wmf"/><Relationship Id="rId13" Type="http://schemas.openxmlformats.org/officeDocument/2006/relationships/image" Target="../media/image112.wmf"/><Relationship Id="rId12" Type="http://schemas.openxmlformats.org/officeDocument/2006/relationships/image" Target="../media/image111.wmf"/><Relationship Id="rId11" Type="http://schemas.openxmlformats.org/officeDocument/2006/relationships/image" Target="../media/image110.wmf"/><Relationship Id="rId10" Type="http://schemas.openxmlformats.org/officeDocument/2006/relationships/image" Target="../media/image109.wmf"/><Relationship Id="rId1" Type="http://schemas.openxmlformats.org/officeDocument/2006/relationships/image" Target="../media/image95.w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5.w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2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E10C6-C67D-4638-8D68-6C0EB5E88F8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78E30-88F7-4E95-A3FE-5E3FC7B863D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6EF25-C2CD-4F80-B873-D602CD76DF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7FDD4-4C9C-4A77-88E5-5F17C753C2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8C786-5367-44E3-892D-55529C3852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2.png"/><Relationship Id="rId10" Type="http://schemas.openxmlformats.org/officeDocument/2006/relationships/vmlDrawing" Target="../drawings/vmlDrawing1.v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mf"/><Relationship Id="rId8" Type="http://schemas.openxmlformats.org/officeDocument/2006/relationships/oleObject" Target="../embeddings/oleObject7.bin"/><Relationship Id="rId7" Type="http://schemas.openxmlformats.org/officeDocument/2006/relationships/image" Target="../media/image19.png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6.wmf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22.png"/><Relationship Id="rId11" Type="http://schemas.openxmlformats.org/officeDocument/2006/relationships/image" Target="../media/image21.wmf"/><Relationship Id="rId10" Type="http://schemas.openxmlformats.org/officeDocument/2006/relationships/oleObject" Target="../embeddings/oleObject8.bin"/><Relationship Id="rId1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4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31.wmf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21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43.wmf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2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oleObject" Target="../embeddings/oleObject35.bin"/><Relationship Id="rId7" Type="http://schemas.openxmlformats.org/officeDocument/2006/relationships/image" Target="../media/image52.png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49.wmf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32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54.wmf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3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oleObject" Target="../embeddings/oleObject46.bin"/><Relationship Id="rId7" Type="http://schemas.openxmlformats.org/officeDocument/2006/relationships/image" Target="../media/image66.wmf"/><Relationship Id="rId6" Type="http://schemas.openxmlformats.org/officeDocument/2006/relationships/oleObject" Target="../embeddings/oleObject45.bin"/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9" Type="http://schemas.openxmlformats.org/officeDocument/2006/relationships/vmlDrawing" Target="../drawings/vmlDrawing10.vml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76.wmf"/><Relationship Id="rId26" Type="http://schemas.openxmlformats.org/officeDocument/2006/relationships/oleObject" Target="../embeddings/oleObject55.bin"/><Relationship Id="rId25" Type="http://schemas.openxmlformats.org/officeDocument/2006/relationships/image" Target="../media/image75.wmf"/><Relationship Id="rId24" Type="http://schemas.openxmlformats.org/officeDocument/2006/relationships/oleObject" Target="../embeddings/oleObject54.bin"/><Relationship Id="rId23" Type="http://schemas.openxmlformats.org/officeDocument/2006/relationships/image" Target="../media/image74.wmf"/><Relationship Id="rId22" Type="http://schemas.openxmlformats.org/officeDocument/2006/relationships/oleObject" Target="../embeddings/oleObject53.bin"/><Relationship Id="rId21" Type="http://schemas.openxmlformats.org/officeDocument/2006/relationships/image" Target="../media/image73.wmf"/><Relationship Id="rId20" Type="http://schemas.openxmlformats.org/officeDocument/2006/relationships/oleObject" Target="../embeddings/oleObject52.bin"/><Relationship Id="rId2" Type="http://schemas.openxmlformats.org/officeDocument/2006/relationships/image" Target="../media/image62.wmf"/><Relationship Id="rId19" Type="http://schemas.openxmlformats.org/officeDocument/2006/relationships/image" Target="../media/image72.wmf"/><Relationship Id="rId18" Type="http://schemas.openxmlformats.org/officeDocument/2006/relationships/oleObject" Target="../embeddings/oleObject51.bin"/><Relationship Id="rId17" Type="http://schemas.openxmlformats.org/officeDocument/2006/relationships/image" Target="../media/image71.wmf"/><Relationship Id="rId16" Type="http://schemas.openxmlformats.org/officeDocument/2006/relationships/oleObject" Target="../embeddings/oleObject50.bin"/><Relationship Id="rId15" Type="http://schemas.openxmlformats.org/officeDocument/2006/relationships/image" Target="../media/image70.wmf"/><Relationship Id="rId14" Type="http://schemas.openxmlformats.org/officeDocument/2006/relationships/oleObject" Target="../embeddings/oleObject49.bin"/><Relationship Id="rId13" Type="http://schemas.openxmlformats.org/officeDocument/2006/relationships/image" Target="../media/image69.wmf"/><Relationship Id="rId12" Type="http://schemas.openxmlformats.org/officeDocument/2006/relationships/oleObject" Target="../embeddings/oleObject48.bin"/><Relationship Id="rId11" Type="http://schemas.openxmlformats.org/officeDocument/2006/relationships/image" Target="../media/image68.wmf"/><Relationship Id="rId10" Type="http://schemas.openxmlformats.org/officeDocument/2006/relationships/oleObject" Target="../embeddings/oleObject47.bin"/><Relationship Id="rId1" Type="http://schemas.openxmlformats.org/officeDocument/2006/relationships/oleObject" Target="../embeddings/oleObject4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77.wmf"/><Relationship Id="rId15" Type="http://schemas.openxmlformats.org/officeDocument/2006/relationships/vmlDrawing" Target="../drawings/vmlDrawing11.vml"/><Relationship Id="rId14" Type="http://schemas.openxmlformats.org/officeDocument/2006/relationships/slideLayout" Target="../slideLayouts/slideLayout2.xml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82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81.wmf"/><Relationship Id="rId1" Type="http://schemas.openxmlformats.org/officeDocument/2006/relationships/oleObject" Target="../embeddings/oleObject5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78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77.wmf"/><Relationship Id="rId13" Type="http://schemas.openxmlformats.org/officeDocument/2006/relationships/vmlDrawing" Target="../drawings/vmlDrawing12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89.png"/><Relationship Id="rId10" Type="http://schemas.openxmlformats.org/officeDocument/2006/relationships/image" Target="../media/image88.png"/><Relationship Id="rId1" Type="http://schemas.openxmlformats.org/officeDocument/2006/relationships/oleObject" Target="../embeddings/oleObject63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98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95.w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02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101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100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99.wmf"/><Relationship Id="rId1" Type="http://schemas.openxmlformats.org/officeDocument/2006/relationships/oleObject" Target="../embeddings/oleObject6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96.wmf"/><Relationship Id="rId34" Type="http://schemas.openxmlformats.org/officeDocument/2006/relationships/vmlDrawing" Target="../drawings/vmlDrawing14.v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115.wmf"/><Relationship Id="rId31" Type="http://schemas.openxmlformats.org/officeDocument/2006/relationships/oleObject" Target="../embeddings/oleObject88.bin"/><Relationship Id="rId30" Type="http://schemas.openxmlformats.org/officeDocument/2006/relationships/image" Target="../media/image114.wmf"/><Relationship Id="rId3" Type="http://schemas.openxmlformats.org/officeDocument/2006/relationships/oleObject" Target="../embeddings/oleObject74.bin"/><Relationship Id="rId29" Type="http://schemas.openxmlformats.org/officeDocument/2006/relationships/oleObject" Target="../embeddings/oleObject87.bin"/><Relationship Id="rId28" Type="http://schemas.openxmlformats.org/officeDocument/2006/relationships/image" Target="../media/image113.wmf"/><Relationship Id="rId27" Type="http://schemas.openxmlformats.org/officeDocument/2006/relationships/oleObject" Target="../embeddings/oleObject86.bin"/><Relationship Id="rId26" Type="http://schemas.openxmlformats.org/officeDocument/2006/relationships/image" Target="../media/image112.wmf"/><Relationship Id="rId25" Type="http://schemas.openxmlformats.org/officeDocument/2006/relationships/oleObject" Target="../embeddings/oleObject85.bin"/><Relationship Id="rId24" Type="http://schemas.openxmlformats.org/officeDocument/2006/relationships/image" Target="../media/image111.wmf"/><Relationship Id="rId23" Type="http://schemas.openxmlformats.org/officeDocument/2006/relationships/oleObject" Target="../embeddings/oleObject84.bin"/><Relationship Id="rId22" Type="http://schemas.openxmlformats.org/officeDocument/2006/relationships/image" Target="../media/image110.wmf"/><Relationship Id="rId21" Type="http://schemas.openxmlformats.org/officeDocument/2006/relationships/oleObject" Target="../embeddings/oleObject83.bin"/><Relationship Id="rId20" Type="http://schemas.openxmlformats.org/officeDocument/2006/relationships/image" Target="../media/image109.wmf"/><Relationship Id="rId2" Type="http://schemas.openxmlformats.org/officeDocument/2006/relationships/image" Target="../media/image95.wmf"/><Relationship Id="rId19" Type="http://schemas.openxmlformats.org/officeDocument/2006/relationships/oleObject" Target="../embeddings/oleObject82.bin"/><Relationship Id="rId18" Type="http://schemas.openxmlformats.org/officeDocument/2006/relationships/image" Target="../media/image108.wmf"/><Relationship Id="rId17" Type="http://schemas.openxmlformats.org/officeDocument/2006/relationships/oleObject" Target="../embeddings/oleObject81.bin"/><Relationship Id="rId16" Type="http://schemas.openxmlformats.org/officeDocument/2006/relationships/image" Target="../media/image107.wmf"/><Relationship Id="rId15" Type="http://schemas.openxmlformats.org/officeDocument/2006/relationships/oleObject" Target="../embeddings/oleObject80.bin"/><Relationship Id="rId14" Type="http://schemas.openxmlformats.org/officeDocument/2006/relationships/image" Target="../media/image106.wmf"/><Relationship Id="rId13" Type="http://schemas.openxmlformats.org/officeDocument/2006/relationships/oleObject" Target="../embeddings/oleObject79.bin"/><Relationship Id="rId12" Type="http://schemas.openxmlformats.org/officeDocument/2006/relationships/image" Target="../media/image105.w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104.wmf"/><Relationship Id="rId1" Type="http://schemas.openxmlformats.org/officeDocument/2006/relationships/oleObject" Target="../embeddings/oleObject7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oleObject" Target="../embeddings/oleObject91.bin"/><Relationship Id="rId7" Type="http://schemas.openxmlformats.org/officeDocument/2006/relationships/image" Target="../media/image120.png"/><Relationship Id="rId6" Type="http://schemas.openxmlformats.org/officeDocument/2006/relationships/image" Target="../media/image119.png"/><Relationship Id="rId5" Type="http://schemas.openxmlformats.org/officeDocument/2006/relationships/image" Target="../media/image118.wmf"/><Relationship Id="rId4" Type="http://schemas.openxmlformats.org/officeDocument/2006/relationships/oleObject" Target="../embeddings/oleObject90.bin"/><Relationship Id="rId3" Type="http://schemas.openxmlformats.org/officeDocument/2006/relationships/image" Target="../media/image117.wmf"/><Relationship Id="rId2" Type="http://schemas.openxmlformats.org/officeDocument/2006/relationships/oleObject" Target="../embeddings/oleObject89.bin"/><Relationship Id="rId17" Type="http://schemas.openxmlformats.org/officeDocument/2006/relationships/vmlDrawing" Target="../drawings/vmlDrawing15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24.wmf"/><Relationship Id="rId14" Type="http://schemas.openxmlformats.org/officeDocument/2006/relationships/oleObject" Target="../embeddings/oleObject94.bin"/><Relationship Id="rId13" Type="http://schemas.openxmlformats.org/officeDocument/2006/relationships/image" Target="../media/image123.wmf"/><Relationship Id="rId12" Type="http://schemas.openxmlformats.org/officeDocument/2006/relationships/oleObject" Target="../embeddings/oleObject93.bin"/><Relationship Id="rId11" Type="http://schemas.openxmlformats.org/officeDocument/2006/relationships/image" Target="../media/image122.wmf"/><Relationship Id="rId10" Type="http://schemas.openxmlformats.org/officeDocument/2006/relationships/oleObject" Target="../embeddings/oleObject92.bin"/><Relationship Id="rId1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wmf"/><Relationship Id="rId8" Type="http://schemas.openxmlformats.org/officeDocument/2006/relationships/oleObject" Target="../embeddings/oleObject98.bin"/><Relationship Id="rId7" Type="http://schemas.openxmlformats.org/officeDocument/2006/relationships/image" Target="../media/image128.wmf"/><Relationship Id="rId6" Type="http://schemas.openxmlformats.org/officeDocument/2006/relationships/oleObject" Target="../embeddings/oleObject97.bin"/><Relationship Id="rId5" Type="http://schemas.openxmlformats.org/officeDocument/2006/relationships/image" Target="../media/image127.wmf"/><Relationship Id="rId4" Type="http://schemas.openxmlformats.org/officeDocument/2006/relationships/oleObject" Target="../embeddings/oleObject96.bin"/><Relationship Id="rId3" Type="http://schemas.openxmlformats.org/officeDocument/2006/relationships/image" Target="../media/image126.png"/><Relationship Id="rId2" Type="http://schemas.openxmlformats.org/officeDocument/2006/relationships/image" Target="../media/image125.wmf"/><Relationship Id="rId13" Type="http://schemas.openxmlformats.org/officeDocument/2006/relationships/vmlDrawing" Target="../drawings/vmlDrawing16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30.wmf"/><Relationship Id="rId10" Type="http://schemas.openxmlformats.org/officeDocument/2006/relationships/oleObject" Target="../embeddings/oleObject99.bin"/><Relationship Id="rId1" Type="http://schemas.openxmlformats.org/officeDocument/2006/relationships/oleObject" Target="../embeddings/oleObject95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135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33.png"/><Relationship Id="rId3" Type="http://schemas.openxmlformats.org/officeDocument/2006/relationships/image" Target="../media/image132.wmf"/><Relationship Id="rId2" Type="http://schemas.openxmlformats.org/officeDocument/2006/relationships/oleObject" Target="../embeddings/oleObject100.bin"/><Relationship Id="rId16" Type="http://schemas.openxmlformats.org/officeDocument/2006/relationships/vmlDrawing" Target="../drawings/vmlDrawing17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38.wmf"/><Relationship Id="rId13" Type="http://schemas.openxmlformats.org/officeDocument/2006/relationships/oleObject" Target="../embeddings/oleObject105.bin"/><Relationship Id="rId12" Type="http://schemas.openxmlformats.org/officeDocument/2006/relationships/image" Target="../media/image137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136.wmf"/><Relationship Id="rId1" Type="http://schemas.openxmlformats.org/officeDocument/2006/relationships/image" Target="../media/image13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42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139.wmf"/><Relationship Id="rId14" Type="http://schemas.openxmlformats.org/officeDocument/2006/relationships/vmlDrawing" Target="../drawings/vmlDrawing1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44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43.wmf"/><Relationship Id="rId1" Type="http://schemas.openxmlformats.org/officeDocument/2006/relationships/oleObject" Target="../embeddings/oleObject10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46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45.wmf"/><Relationship Id="rId1" Type="http://schemas.openxmlformats.org/officeDocument/2006/relationships/oleObject" Target="../embeddings/oleObject112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7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4.png"/><Relationship Id="rId1" Type="http://schemas.openxmlformats.org/officeDocument/2006/relationships/image" Target="../media/image15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5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7.png"/><Relationship Id="rId1" Type="http://schemas.openxmlformats.org/officeDocument/2006/relationships/image" Target="../media/image156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image" Target="../media/image16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image" Target="../media/image16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image" Target="../media/image167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1.png"/><Relationship Id="rId1" Type="http://schemas.openxmlformats.org/officeDocument/2006/relationships/image" Target="../media/image170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6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75.wmf"/><Relationship Id="rId1" Type="http://schemas.openxmlformats.org/officeDocument/2006/relationships/oleObject" Target="../embeddings/oleObject115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3.png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image" Target="../media/image17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image" Target="../media/image184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TỔNG HỢP KIẾN THỨC VÀ CÔNG THỨC ANTEN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CẦN NHỚ ( </a:t>
            </a:r>
            <a:r>
              <a:rPr lang="en-US" b="1" dirty="0" err="1" smtClean="0">
                <a:solidFill>
                  <a:srgbClr val="00B050"/>
                </a:solidFill>
              </a:rPr>
              <a:t>ôn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tập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thi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cuối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ky</a:t>
            </a:r>
            <a:r>
              <a:rPr lang="en-US" b="1" dirty="0" smtClean="0">
                <a:solidFill>
                  <a:srgbClr val="00B050"/>
                </a:solidFill>
              </a:rPr>
              <a:t>̀)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CHƯƠNG 1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830763"/>
          </a:xfrm>
        </p:spPr>
        <p:txBody>
          <a:bodyPr/>
          <a:lstStyle/>
          <a:p>
            <a:r>
              <a:rPr lang="en-US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Cơ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chế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bức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xạ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của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Anten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US" sz="24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tượng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bức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xạ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sóng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từ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(EM)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Nếu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tích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di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chuyển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với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tốc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độ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đều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  <a:defRPr/>
            </a:pP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tượng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bức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xạ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nếu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dây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thẳng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dài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vô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hạn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  <a:defRPr/>
            </a:pP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tượng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bức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xạ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khi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dây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gãy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khúc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liên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tục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hoặc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bị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giới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hạn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dao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4724400"/>
            <a:ext cx="2601711" cy="1752600"/>
          </a:xfrm>
          <a:prstGeom prst="rect">
            <a:avLst/>
          </a:prstGeom>
          <a:noFill/>
          <a:ln w="57150">
            <a:solidFill>
              <a:srgbClr val="0000FF"/>
            </a:solidFill>
            <a:miter lim="800000"/>
            <a:headEnd/>
            <a:tailEnd/>
          </a:ln>
          <a:effectLst/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199" y="4724400"/>
            <a:ext cx="3309211" cy="1905000"/>
          </a:xfrm>
          <a:prstGeom prst="rect">
            <a:avLst/>
          </a:prstGeom>
          <a:noFill/>
          <a:ln w="57150">
            <a:solidFill>
              <a:srgbClr val="0000FF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969554" y="1357635"/>
            <a:ext cx="4132881" cy="1785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9554" y="3351535"/>
            <a:ext cx="4132881" cy="31208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7710" y="1357634"/>
            <a:ext cx="4876800" cy="17851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 ở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27710" y="3351534"/>
            <a:ext cx="4876800" cy="31393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 smtClean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endParaRPr lang="en-US" b="1" dirty="0" smtClean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endParaRPr lang="en-US" b="1" dirty="0" smtClean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 smtClean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khép</a:t>
            </a:r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endParaRPr lang="en-US" b="1" dirty="0" smtClean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0" y="119390"/>
            <a:ext cx="57288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Cơ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chế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bức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xạ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của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Times New Roman" panose="02020603050405020304" pitchFamily="18" charset="0"/>
              </a:rPr>
              <a:t>Anten</a:t>
            </a:r>
            <a:endParaRPr lang="en-US" sz="28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811868"/>
            <a:ext cx="1295400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8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US" sz="28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1000" y="1295400"/>
            <a:ext cx="4343400" cy="510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1905000"/>
            <a:ext cx="41052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127" y="711827"/>
            <a:ext cx="1457450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Dipole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295400"/>
            <a:ext cx="8305800" cy="518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93624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Dipole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động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endParaRPr lang="en-US" sz="24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tạo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ra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bức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xạ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sóng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điện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từ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en-US" sz="24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24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endParaRPr 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2060"/>
              </a:buClr>
              <a:buNone/>
              <a:defRPr/>
            </a:pPr>
            <a:endParaRPr lang="en-US" sz="2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90800" y="4343400"/>
            <a:ext cx="4191000" cy="2373238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93624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002060"/>
              </a:buClr>
              <a:buNone/>
              <a:defRPr/>
            </a:pPr>
            <a:endParaRPr lang="en-US" sz="2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927" y="56860"/>
            <a:ext cx="9144000" cy="6096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914400"/>
            <a:ext cx="4038600" cy="17081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667000"/>
            <a:ext cx="4038600" cy="3810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81000" y="914400"/>
            <a:ext cx="3886200" cy="5562600"/>
          </a:xfrm>
          <a:prstGeom prst="rect">
            <a:avLst/>
          </a:prstGeom>
          <a:gradFill rotWithShape="1">
            <a:gsLst>
              <a:gs pos="0">
                <a:srgbClr val="FF0066">
                  <a:alpha val="25000"/>
                </a:srgbClr>
              </a:gs>
              <a:gs pos="50000">
                <a:schemeClr val="bg1"/>
              </a:gs>
              <a:gs pos="100000">
                <a:srgbClr val="FF0066">
                  <a:alpha val="25000"/>
                </a:srgbClr>
              </a:gs>
            </a:gsLst>
            <a:lin ang="5400000" scaled="1"/>
          </a:gra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85800" y="1600200"/>
            <a:ext cx="3352800" cy="40318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dipole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93624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Dipole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2060"/>
              </a:buClr>
              <a:buNone/>
              <a:defRPr/>
            </a:pPr>
            <a:endParaRPr lang="en-US" sz="2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27575"/>
            <a:ext cx="91440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solidFill>
                <a:schemeClr val="bg1"/>
              </a:solidFill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4910" y="1295400"/>
            <a:ext cx="8153400" cy="4639832"/>
          </a:xfrm>
          <a:prstGeom prst="rect">
            <a:avLst/>
          </a:prstGeom>
          <a:noFill/>
          <a:ln w="57150">
            <a:solidFill>
              <a:srgbClr val="FF0066"/>
            </a:solidFill>
            <a:miter lim="800000"/>
            <a:headEnd/>
            <a:tailEnd/>
          </a:ln>
          <a:effectLst/>
        </p:spPr>
      </p:pic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219200" y="6029980"/>
            <a:ext cx="75438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dipole 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0" y="893624"/>
            <a:ext cx="9144000" cy="6303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indent="0" algn="just" defTabSz="360045">
              <a:lnSpc>
                <a:spcPts val="3800"/>
              </a:lnSpc>
              <a:spcBef>
                <a:spcPts val="1200"/>
              </a:spcBef>
              <a:buNone/>
            </a:pPr>
            <a:r>
              <a:rPr lang="en-US" sz="2400" b="1" dirty="0" err="1" smtClean="0">
                <a:solidFill>
                  <a:srgbClr val="FF0000"/>
                </a:solidFill>
              </a:rPr>
              <a:t>Xem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Anten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như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mạng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một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cửa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72009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en-US" b="1" dirty="0" smtClean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endParaRPr lang="en-US" alt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609600" y="4038600"/>
            <a:ext cx="4495800" cy="2072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sz="2200" dirty="0" err="1"/>
              <a:t>Trở</a:t>
            </a:r>
            <a:r>
              <a:rPr lang="en-US" sz="2200" dirty="0"/>
              <a:t> </a:t>
            </a:r>
            <a:r>
              <a:rPr lang="en-US" sz="2200" dirty="0" err="1"/>
              <a:t>kháng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: 	Z</a:t>
            </a:r>
            <a:r>
              <a:rPr lang="en-US" sz="2200" baseline="-25000" dirty="0"/>
              <a:t>A</a:t>
            </a:r>
            <a:r>
              <a:rPr lang="en-US" sz="2200" dirty="0"/>
              <a:t> = R</a:t>
            </a:r>
            <a:r>
              <a:rPr lang="en-US" sz="2200" baseline="-25000" dirty="0"/>
              <a:t>A</a:t>
            </a:r>
            <a:r>
              <a:rPr lang="en-US" sz="2200" dirty="0"/>
              <a:t> + </a:t>
            </a:r>
            <a:r>
              <a:rPr lang="en-US" sz="2200" dirty="0" err="1"/>
              <a:t>jX</a:t>
            </a:r>
            <a:r>
              <a:rPr lang="en-US" sz="2200" baseline="-25000" dirty="0" err="1"/>
              <a:t>A</a:t>
            </a:r>
            <a:endParaRPr lang="en-US" sz="2200" baseline="-25000" dirty="0"/>
          </a:p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sz="2200" dirty="0" err="1"/>
              <a:t>Thông</a:t>
            </a:r>
            <a:r>
              <a:rPr lang="en-US" sz="2200" dirty="0"/>
              <a:t> </a:t>
            </a:r>
            <a:r>
              <a:rPr lang="en-US" sz="2200" dirty="0" err="1"/>
              <a:t>thường</a:t>
            </a:r>
            <a:r>
              <a:rPr lang="en-US" sz="2200" dirty="0"/>
              <a:t> R</a:t>
            </a:r>
            <a:r>
              <a:rPr lang="en-US" sz="2200" baseline="-25000" dirty="0"/>
              <a:t>A</a:t>
            </a:r>
            <a:r>
              <a:rPr lang="en-US" sz="2200" dirty="0"/>
              <a:t> </a:t>
            </a:r>
            <a:r>
              <a:rPr lang="en-US" sz="2200" dirty="0" err="1"/>
              <a:t>gồm</a:t>
            </a:r>
            <a:r>
              <a:rPr lang="en-US" sz="2200" dirty="0"/>
              <a:t> 2 </a:t>
            </a:r>
            <a:r>
              <a:rPr lang="en-US" sz="2200" dirty="0" err="1"/>
              <a:t>thành</a:t>
            </a:r>
            <a:r>
              <a:rPr lang="en-US" sz="2200" dirty="0"/>
              <a:t> </a:t>
            </a:r>
            <a:r>
              <a:rPr lang="en-US" sz="2200" dirty="0" err="1"/>
              <a:t>phần</a:t>
            </a:r>
            <a:endParaRPr lang="en-US" sz="2200" dirty="0"/>
          </a:p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sz="2200" dirty="0"/>
              <a:t>+ </a:t>
            </a:r>
            <a:r>
              <a:rPr lang="en-US" sz="2200" dirty="0" err="1"/>
              <a:t>R</a:t>
            </a:r>
            <a:r>
              <a:rPr lang="en-US" sz="2200" baseline="-25000" dirty="0" err="1"/>
              <a:t>r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điện</a:t>
            </a:r>
            <a:r>
              <a:rPr lang="en-US" sz="2200" dirty="0"/>
              <a:t> </a:t>
            </a:r>
            <a:r>
              <a:rPr lang="en-US" sz="2200" dirty="0" err="1"/>
              <a:t>trở</a:t>
            </a:r>
            <a:r>
              <a:rPr lang="en-US" sz="2200" dirty="0"/>
              <a:t> </a:t>
            </a:r>
            <a:r>
              <a:rPr lang="en-US" sz="2200" dirty="0" err="1"/>
              <a:t>bức</a:t>
            </a:r>
            <a:r>
              <a:rPr lang="en-US" sz="2200" dirty="0"/>
              <a:t> </a:t>
            </a:r>
            <a:r>
              <a:rPr lang="en-US" sz="2200" dirty="0" err="1"/>
              <a:t>xạ</a:t>
            </a:r>
            <a:r>
              <a:rPr lang="en-US" sz="2200" dirty="0"/>
              <a:t> </a:t>
            </a:r>
            <a:endParaRPr lang="en-US" sz="2200" dirty="0"/>
          </a:p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sz="2200" dirty="0"/>
              <a:t>+ R</a:t>
            </a:r>
            <a:r>
              <a:rPr lang="en-US" sz="2200" baseline="-25000" dirty="0"/>
              <a:t>L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điện</a:t>
            </a:r>
            <a:r>
              <a:rPr lang="en-US" sz="2200" dirty="0"/>
              <a:t> </a:t>
            </a:r>
            <a:r>
              <a:rPr lang="en-US" sz="2200" dirty="0" err="1"/>
              <a:t>trở</a:t>
            </a:r>
            <a:r>
              <a:rPr lang="en-US" sz="2200" dirty="0"/>
              <a:t> </a:t>
            </a:r>
            <a:r>
              <a:rPr lang="en-US" sz="2200" dirty="0" err="1"/>
              <a:t>tiêu</a:t>
            </a:r>
            <a:r>
              <a:rPr lang="en-US" sz="2200" dirty="0"/>
              <a:t> </a:t>
            </a:r>
            <a:r>
              <a:rPr lang="en-US" sz="2200" dirty="0" err="1"/>
              <a:t>hao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Anten</a:t>
            </a:r>
            <a:endParaRPr lang="en-US" sz="2200" dirty="0"/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" y="1600200"/>
            <a:ext cx="4257675" cy="2209800"/>
          </a:xfrm>
          <a:prstGeom prst="rect">
            <a:avLst/>
          </a:prstGeom>
          <a:noFill/>
        </p:spPr>
      </p:pic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208812"/>
            <a:ext cx="3505200" cy="2428875"/>
          </a:xfrm>
          <a:prstGeom prst="rect">
            <a:avLst/>
          </a:prstGeom>
          <a:noFill/>
        </p:spPr>
      </p:pic>
      <p:sp>
        <p:nvSpPr>
          <p:cNvPr id="8" name="Line 11"/>
          <p:cNvSpPr>
            <a:spLocks noChangeShapeType="1"/>
          </p:cNvSpPr>
          <p:nvPr/>
        </p:nvSpPr>
        <p:spPr bwMode="auto">
          <a:xfrm flipH="1">
            <a:off x="4343400" y="2743200"/>
            <a:ext cx="2819400" cy="1447800"/>
          </a:xfrm>
          <a:prstGeom prst="line">
            <a:avLst/>
          </a:prstGeom>
          <a:noFill/>
          <a:ln w="19050">
            <a:solidFill>
              <a:srgbClr val="00206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auto">
          <a:xfrm>
            <a:off x="7086600" y="1371600"/>
            <a:ext cx="1828800" cy="2209800"/>
          </a:xfrm>
          <a:prstGeom prst="ellipse">
            <a:avLst/>
          </a:prstGeom>
          <a:noFill/>
          <a:ln w="19050">
            <a:solidFill>
              <a:srgbClr val="002060"/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71475" y="86594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CHƯƠNG 2</a:t>
            </a:r>
            <a:endParaRPr lang="en-US" b="1" dirty="0">
              <a:solidFill>
                <a:srgbClr val="00B050"/>
              </a:solidFill>
            </a:endParaRPr>
          </a:p>
        </p:txBody>
      </p:sp>
      <p:graphicFrame>
        <p:nvGraphicFramePr>
          <p:cNvPr id="11" name="Content Placeholder 10"/>
          <p:cNvGraphicFramePr>
            <a:graphicFrameLocks noGrp="1" noChangeAspect="1"/>
          </p:cNvGraphicFramePr>
          <p:nvPr>
            <p:ph idx="1"/>
          </p:nvPr>
        </p:nvGraphicFramePr>
        <p:xfrm>
          <a:off x="5410200" y="4170218"/>
          <a:ext cx="105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3" imgW="1054100" imgH="393700" progId="Equation.DSMT4">
                  <p:embed/>
                </p:oleObj>
              </mc:Choice>
              <mc:Fallback>
                <p:oleObj name="Equation" r:id="rId3" imgW="10541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170218"/>
                        <a:ext cx="1054100" cy="3937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6934200" y="4017818"/>
          <a:ext cx="1676400" cy="859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Equation" r:id="rId5" imgW="1040765" imgH="533400" progId="Equation.DSMT4">
                  <p:embed/>
                </p:oleObj>
              </mc:Choice>
              <mc:Fallback>
                <p:oleObj name="Equation" r:id="rId5" imgW="1040765" imgH="533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017818"/>
                        <a:ext cx="1676400" cy="85915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4336473" y="5075037"/>
            <a:ext cx="45720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7995">
              <a:lnSpc>
                <a:spcPct val="120000"/>
              </a:lnSpc>
              <a:buClr>
                <a:schemeClr val="accent5">
                  <a:lumMod val="2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en-US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Z</a:t>
            </a:r>
            <a:r>
              <a:rPr lang="en-US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endParaRPr lang="en-US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6210300" y="5488238"/>
          <a:ext cx="1295400" cy="101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Equation" r:id="rId7" imgW="635000" imgH="495300" progId="Equation.DSMT4">
                  <p:embed/>
                </p:oleObj>
              </mc:Choice>
              <mc:Fallback>
                <p:oleObj name="Equation" r:id="rId7" imgW="635000" imgH="495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5488238"/>
                        <a:ext cx="1295400" cy="101027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CHƯƠNG 2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Trường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điện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bởi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0" y="1524000"/>
            <a:ext cx="9144000" cy="5029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Char char="§"/>
            </a:pPr>
            <a:endParaRPr 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 defTabSz="360045">
              <a:lnSpc>
                <a:spcPts val="3800"/>
              </a:lnSpc>
              <a:spcBef>
                <a:spcPts val="1200"/>
              </a:spcBef>
              <a:buNone/>
            </a:pP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1143000"/>
            <a:ext cx="8229600" cy="52266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400" i="0" u="sng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kumimoji="0" lang="en-US" sz="2400" i="0" u="sng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sng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kumimoji="0" lang="en-US" sz="2400" i="0" u="sng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sng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kumimoji="0" lang="en-US" sz="2400" i="0" u="sng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̀</a:t>
            </a:r>
            <a:r>
              <a:rPr kumimoji="0" lang="en-US" sz="2400" i="0" u="sng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kumimoji="0" lang="en-US" sz="2400" b="0" i="0" u="sng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kumimoji="0" lang="en-US" sz="2400" b="0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sng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kumimoji="0" lang="en-US" sz="2400" b="0" i="0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Anten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Bef>
                <a:spcPct val="40000"/>
              </a:spcBef>
              <a:buClr>
                <a:schemeClr val="hlink"/>
              </a:buClr>
              <a:defRPr/>
            </a:pP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KGTD</a:t>
            </a:r>
            <a:endParaRPr lang="en-US" sz="2400" b="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Bef>
                <a:spcPct val="40000"/>
              </a:spcBef>
              <a:buClr>
                <a:schemeClr val="hlink"/>
              </a:buClr>
              <a:defRPr/>
            </a:pP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endParaRPr lang="en-US" sz="2400" b="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Bef>
                <a:spcPct val="40000"/>
              </a:spcBef>
              <a:buClr>
                <a:schemeClr val="hlink"/>
              </a:buClr>
              <a:defRPr/>
            </a:pP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</a:t>
            </a:r>
            <a:endParaRPr lang="en-US" sz="2400" b="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Bef>
                <a:spcPct val="40000"/>
              </a:spcBef>
              <a:buClr>
                <a:srgbClr val="00206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r&gt;&gt;D, r&gt;&gt;</a:t>
            </a: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, r&gt;&gt;</a:t>
            </a:r>
            <a:endParaRPr lang="en-US" sz="2400" b="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lang="en-US" sz="2400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953000" y="5105400"/>
          <a:ext cx="6572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Equation" r:id="rId1" imgW="368300" imgH="469900" progId="Equation.3">
                  <p:embed/>
                </p:oleObj>
              </mc:Choice>
              <mc:Fallback>
                <p:oleObj name="Equation" r:id="rId1" imgW="368300" imgH="469900" progId="Equation.3">
                  <p:embed/>
                  <p:pic>
                    <p:nvPicPr>
                      <p:cNvPr id="0" name="Picture 3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105400"/>
                        <a:ext cx="6572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1828800" y="3420368"/>
          <a:ext cx="2604655" cy="542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Equation" r:id="rId3" imgW="1384300" imgH="279400" progId="Equation.3">
                  <p:embed/>
                </p:oleObj>
              </mc:Choice>
              <mc:Fallback>
                <p:oleObj name="Equation" r:id="rId3" imgW="1384300" imgH="279400" progId="Equation.3">
                  <p:embed/>
                  <p:pic>
                    <p:nvPicPr>
                      <p:cNvPr id="0" name="Picture 3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420368"/>
                        <a:ext cx="2604655" cy="54203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/>
        </p:nvGraphicFramePr>
        <p:xfrm>
          <a:off x="152400" y="3494375"/>
          <a:ext cx="8382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Equation" r:id="rId5" imgW="381000" imgH="241300" progId="Equation.3">
                  <p:embed/>
                </p:oleObj>
              </mc:Choice>
              <mc:Fallback>
                <p:oleObj name="Equation" r:id="rId5" imgW="381000" imgH="241300" progId="Equation.3">
                  <p:embed/>
                  <p:pic>
                    <p:nvPicPr>
                      <p:cNvPr id="0" name="Picture 3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494375"/>
                        <a:ext cx="8382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71588" y="4315690"/>
            <a:ext cx="2417954" cy="2466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269182" y="1752600"/>
          <a:ext cx="213360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Equation" r:id="rId8" imgW="1206500" imgH="419100" progId="Equation.DSMT4">
                  <p:embed/>
                </p:oleObj>
              </mc:Choice>
              <mc:Fallback>
                <p:oleObj name="Equation" r:id="rId8" imgW="12065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182" y="1752600"/>
                        <a:ext cx="2133600" cy="7413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392343" y="1725589"/>
          <a:ext cx="3743239" cy="796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10" imgW="2209800" imgH="419100" progId="Equation.DSMT4">
                  <p:embed/>
                </p:oleObj>
              </mc:Choice>
              <mc:Fallback>
                <p:oleObj name="Equation" r:id="rId10" imgW="2209800" imgH="419100" progId="Equation.DSMT4">
                  <p:embed/>
                  <p:pic>
                    <p:nvPicPr>
                      <p:cNvPr id="0" name="Picture 3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43" y="1725589"/>
                        <a:ext cx="3743239" cy="79663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410200" y="2737492"/>
            <a:ext cx="2971800" cy="588645"/>
          </a:xfrm>
          <a:prstGeom prst="rect">
            <a:avLst/>
          </a:prstGeom>
          <a:noFill/>
        </p:spPr>
      </p:pic>
      <p:graphicFrame>
        <p:nvGraphicFramePr>
          <p:cNvPr id="13" name="Object 12"/>
          <p:cNvGraphicFramePr>
            <a:graphicFrameLocks noGrp="1" noChangeAspect="1"/>
          </p:cNvGraphicFramePr>
          <p:nvPr/>
        </p:nvGraphicFramePr>
        <p:xfrm>
          <a:off x="6117326" y="3503164"/>
          <a:ext cx="2264674" cy="812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13" imgW="1346200" imgH="482600" progId="Equation.3">
                  <p:embed/>
                </p:oleObj>
              </mc:Choice>
              <mc:Fallback>
                <p:oleObj name="Equation" r:id="rId13" imgW="1346200" imgH="482600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7326" y="3503164"/>
                        <a:ext cx="2264674" cy="81252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09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CHƯƠNG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4525963"/>
          </a:xfrm>
        </p:spPr>
        <p:txBody>
          <a:bodyPr/>
          <a:lstStyle/>
          <a:p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kumimoji="0" 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[W/m2]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952500" y="2133600"/>
          <a:ext cx="63246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Equation" r:id="rId1" imgW="83210400" imgH="10058400" progId="Equation.DSMT4">
                  <p:embed/>
                </p:oleObj>
              </mc:Choice>
              <mc:Fallback>
                <p:oleObj name="Equation" r:id="rId1" imgW="83210400" imgH="1005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133600"/>
                        <a:ext cx="6324600" cy="7064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90600" y="2909646"/>
          <a:ext cx="281705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Equation" r:id="rId3" imgW="1206500" imgH="228600" progId="Equation.DSMT4">
                  <p:embed/>
                </p:oleObj>
              </mc:Choice>
              <mc:Fallback>
                <p:oleObj name="Equation" r:id="rId3" imgW="12065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909646"/>
                        <a:ext cx="2817056" cy="5334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796636" y="3491346"/>
            <a:ext cx="200567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20000"/>
              </a:lnSpc>
              <a:spcBef>
                <a:spcPct val="40000"/>
              </a:spcBef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kern="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</a:t>
            </a:r>
            <a:endParaRPr lang="en-US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14400" y="3950714"/>
          <a:ext cx="2667000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Equation" r:id="rId5" imgW="1435100" imgH="393700" progId="Equation.DSMT4">
                  <p:embed/>
                </p:oleObj>
              </mc:Choice>
              <mc:Fallback>
                <p:oleObj name="Equation" r:id="rId5" imgW="14351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50714"/>
                        <a:ext cx="2667000" cy="73152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19600" y="3059856"/>
            <a:ext cx="2971800" cy="2693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77000" y="5288755"/>
            <a:ext cx="2109788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1048764" y="4827090"/>
            <a:ext cx="29793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vi-VN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là </a:t>
            </a:r>
            <a:r>
              <a:rPr lang="vi-VN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kern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vi-VN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suất bức xạ </a:t>
            </a:r>
            <a:r>
              <a:rPr lang="vi-VN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b="0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ên</a:t>
            </a:r>
            <a:r>
              <a:rPr lang="vi-VN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ộ</a:t>
            </a:r>
            <a:r>
              <a:rPr lang="vi-VN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b="0" kern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kern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kern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b="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kern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b="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796636" y="6019800"/>
          <a:ext cx="2670146" cy="478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Equation" r:id="rId9" imgW="1346200" imgH="241300" progId="Equation.DSMT4">
                  <p:embed/>
                </p:oleObj>
              </mc:Choice>
              <mc:Fallback>
                <p:oleObj name="Equation" r:id="rId9" imgW="13462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636" y="6019800"/>
                        <a:ext cx="2670146" cy="47863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886200" y="5943600"/>
          <a:ext cx="2381017" cy="603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Equation" r:id="rId11" imgW="951865" imgH="241300" progId="Equation.DSMT4">
                  <p:embed/>
                </p:oleObj>
              </mc:Choice>
              <mc:Fallback>
                <p:oleObj name="Equation" r:id="rId11" imgW="951865" imgH="241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943600"/>
                        <a:ext cx="2381017" cy="60310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678363"/>
          </a:xfrm>
        </p:spPr>
        <p:txBody>
          <a:bodyPr/>
          <a:lstStyle/>
          <a:p>
            <a:pPr lvl="0"/>
            <a:r>
              <a:rPr kumimoji="0" lang="en-US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86691" y="1600201"/>
          <a:ext cx="2847109" cy="86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1" imgW="1257300" imgH="381000" progId="Equation.DSMT4">
                  <p:embed/>
                </p:oleObj>
              </mc:Choice>
              <mc:Fallback>
                <p:oleObj name="Equation" r:id="rId1" imgW="1257300" imgH="38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691" y="1600201"/>
                        <a:ext cx="2847109" cy="86253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886200" y="1600200"/>
          <a:ext cx="268037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3" imgW="1117600" imgH="381000" progId="Equation.DSMT4">
                  <p:embed/>
                </p:oleObj>
              </mc:Choice>
              <mc:Fallback>
                <p:oleObj name="Equation" r:id="rId3" imgW="11176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600200"/>
                        <a:ext cx="2680377" cy="9144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900545" y="2664767"/>
            <a:ext cx="29536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 smtClean="0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24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 smtClean="0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</a:t>
            </a:r>
            <a:r>
              <a:rPr lang="en-US" sz="2400" dirty="0" smtClean="0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962400" y="2664767"/>
          <a:ext cx="1219200" cy="867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" name="Equation" r:id="rId5" imgW="15849600" imgH="11277600" progId="Equation.DSMT4">
                  <p:embed/>
                </p:oleObj>
              </mc:Choice>
              <mc:Fallback>
                <p:oleObj name="Equation" r:id="rId5" imgW="15849600" imgH="11277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664767"/>
                        <a:ext cx="1219200" cy="86741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 txBox="1"/>
          <p:nvPr/>
        </p:nvSpPr>
        <p:spPr>
          <a:xfrm>
            <a:off x="457200" y="27709"/>
            <a:ext cx="8229600" cy="88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00B050"/>
                </a:solidFill>
              </a:rPr>
              <a:t>CHƯƠNG 2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90600" y="3579232"/>
            <a:ext cx="777932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45" indent="-360045">
              <a:lnSpc>
                <a:spcPct val="120000"/>
              </a:lnSpc>
              <a:spcBef>
                <a:spcPts val="0"/>
              </a:spcBef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 err="1" smtClean="0">
                <a:solidFill>
                  <a:srgbClr val="00B050"/>
                </a:solidFill>
                <a:latin typeface="+mn-lt"/>
              </a:rPr>
              <a:t>Cường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độ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bức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xạ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chuẩn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hoá</a:t>
            </a:r>
            <a:r>
              <a:rPr lang="en-US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  <a:latin typeface="+mn-lt"/>
              </a:rPr>
              <a:t>và</a:t>
            </a:r>
            <a:r>
              <a:rPr lang="en-US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hàm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độ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lớn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của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trường</a:t>
            </a:r>
            <a:r>
              <a:rPr lang="en-US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  <a:latin typeface="+mn-lt"/>
              </a:rPr>
              <a:t>như</a:t>
            </a:r>
            <a:r>
              <a:rPr lang="en-US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  <a:latin typeface="+mn-lt"/>
              </a:rPr>
              <a:t>sau</a:t>
            </a:r>
            <a:endParaRPr lang="en-US" b="0" dirty="0" smtClean="0">
              <a:solidFill>
                <a:srgbClr val="002060"/>
              </a:solidFill>
              <a:latin typeface="+mn-lt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103101" y="4031673"/>
          <a:ext cx="2325899" cy="841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" name="Equation" r:id="rId7" imgW="1193800" imgH="431800" progId="Equation.3">
                  <p:embed/>
                </p:oleObj>
              </mc:Choice>
              <mc:Fallback>
                <p:oleObj name="Equation" r:id="rId7" imgW="11938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101" y="4031673"/>
                        <a:ext cx="2325899" cy="841511"/>
                      </a:xfrm>
                      <a:prstGeom prst="rect">
                        <a:avLst/>
                      </a:prstGeom>
                      <a:solidFill>
                        <a:srgbClr val="99CCFF">
                          <a:alpha val="20000"/>
                        </a:srgb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775363" y="4003964"/>
          <a:ext cx="2209800" cy="816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8" name="Equation" r:id="rId9" imgW="1167765" imgH="431800" progId="Equation.3">
                  <p:embed/>
                </p:oleObj>
              </mc:Choice>
              <mc:Fallback>
                <p:oleObj name="Equation" r:id="rId9" imgW="1167765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363" y="4003964"/>
                        <a:ext cx="2209800" cy="816836"/>
                      </a:xfrm>
                      <a:prstGeom prst="rect">
                        <a:avLst/>
                      </a:prstGeom>
                      <a:solidFill>
                        <a:srgbClr val="99CCFF">
                          <a:alpha val="20000"/>
                        </a:srgb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990600" y="5029200"/>
            <a:ext cx="2004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Góc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khối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401291" y="4951197"/>
          <a:ext cx="1170709" cy="690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" name="Equation" r:id="rId11" imgW="774065" imgH="457200" progId="Equation.DSMT4">
                  <p:embed/>
                </p:oleObj>
              </mc:Choice>
              <mc:Fallback>
                <p:oleObj name="Equation" r:id="rId11" imgW="774065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1291" y="4951197"/>
                        <a:ext cx="1170709" cy="69091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628900" y="5715000"/>
          <a:ext cx="3886199" cy="975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" name="Equation" r:id="rId13" imgW="2832100" imgH="711200" progId="Equation.DSMT4">
                  <p:embed/>
                </p:oleObj>
              </mc:Choice>
              <mc:Fallback>
                <p:oleObj name="Equation" r:id="rId13" imgW="28321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5715000"/>
                        <a:ext cx="3886199" cy="975869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18" y="935182"/>
            <a:ext cx="8229600" cy="4525963"/>
          </a:xfrm>
        </p:spPr>
        <p:txBody>
          <a:bodyPr/>
          <a:lstStyle/>
          <a:p>
            <a:r>
              <a:rPr lang="en-US" b="0" u="sng" dirty="0" err="1" smtClean="0">
                <a:solidFill>
                  <a:srgbClr val="C00000"/>
                </a:solidFill>
                <a:latin typeface="+mn-lt"/>
              </a:rPr>
              <a:t>cường</a:t>
            </a:r>
            <a:r>
              <a:rPr lang="en-US" b="0" u="sng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b="0" u="sng" dirty="0" err="1" smtClean="0">
                <a:solidFill>
                  <a:srgbClr val="C00000"/>
                </a:solidFill>
                <a:latin typeface="+mn-lt"/>
              </a:rPr>
              <a:t>độ</a:t>
            </a:r>
            <a:r>
              <a:rPr lang="en-US" b="0" u="sng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b="0" u="sng" dirty="0" err="1" smtClean="0">
                <a:solidFill>
                  <a:srgbClr val="C00000"/>
                </a:solidFill>
                <a:latin typeface="+mn-lt"/>
              </a:rPr>
              <a:t>bức</a:t>
            </a:r>
            <a:r>
              <a:rPr lang="en-US" b="0" u="sng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b="0" u="sng" dirty="0" err="1" smtClean="0">
                <a:solidFill>
                  <a:srgbClr val="C00000"/>
                </a:solidFill>
                <a:latin typeface="+mn-lt"/>
              </a:rPr>
              <a:t>xạ</a:t>
            </a:r>
            <a:r>
              <a:rPr lang="en-US" b="0" u="sng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b="0" u="sng" dirty="0" err="1" smtClean="0">
                <a:solidFill>
                  <a:srgbClr val="C00000"/>
                </a:solidFill>
                <a:latin typeface="+mn-lt"/>
              </a:rPr>
              <a:t>trung</a:t>
            </a:r>
            <a:r>
              <a:rPr lang="en-US" b="0" u="sng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b="0" u="sng" dirty="0" err="1" smtClean="0">
                <a:solidFill>
                  <a:srgbClr val="C00000"/>
                </a:solidFill>
                <a:latin typeface="+mn-lt"/>
              </a:rPr>
              <a:t>bình</a:t>
            </a:r>
            <a:endParaRPr lang="en-US" b="0" u="sng" dirty="0" smtClean="0">
              <a:solidFill>
                <a:srgbClr val="C00000"/>
              </a:solidFill>
              <a:latin typeface="+mn-lt"/>
            </a:endParaRP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38200" y="1524000"/>
          <a:ext cx="37338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Equation" r:id="rId1" imgW="1777365" imgH="444500" progId="Equation.DSMT4">
                  <p:embed/>
                </p:oleObj>
              </mc:Choice>
              <mc:Fallback>
                <p:oleObj name="Equation" r:id="rId1" imgW="1777365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3733800" cy="933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2590800"/>
            <a:ext cx="203100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0045" indent="-360045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0" dirty="0" err="1" smtClean="0">
                <a:solidFill>
                  <a:srgbClr val="002060"/>
                </a:solidFill>
              </a:rPr>
              <a:t>Độ</a:t>
            </a:r>
            <a:r>
              <a:rPr lang="en-US" b="0" dirty="0" smtClean="0">
                <a:solidFill>
                  <a:srgbClr val="002060"/>
                </a:solidFill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</a:rPr>
              <a:t>định</a:t>
            </a:r>
            <a:r>
              <a:rPr lang="en-US" b="0" dirty="0" smtClean="0">
                <a:solidFill>
                  <a:srgbClr val="002060"/>
                </a:solidFill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</a:rPr>
              <a:t>hướng</a:t>
            </a:r>
            <a:r>
              <a:rPr lang="en-US" b="0" dirty="0" smtClean="0">
                <a:solidFill>
                  <a:srgbClr val="002060"/>
                </a:solidFill>
              </a:rPr>
              <a:t>:</a:t>
            </a:r>
            <a:endParaRPr lang="en-US" b="0" dirty="0" smtClean="0">
              <a:solidFill>
                <a:srgbClr val="002060"/>
              </a:solidFill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457200" y="27709"/>
            <a:ext cx="8229600" cy="88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00B050"/>
                </a:solidFill>
              </a:rPr>
              <a:t>CHƯƠNG 2</a:t>
            </a:r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066800" y="3200400"/>
          <a:ext cx="623630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8" name="Equation" r:id="rId3" imgW="3378200" imgH="660400" progId="Equation.DSMT4">
                  <p:embed/>
                </p:oleObj>
              </mc:Choice>
              <mc:Fallback>
                <p:oleObj name="Equation" r:id="rId3" imgW="3378200" imgH="660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00400"/>
                        <a:ext cx="6236305" cy="12192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845996" y="4495800"/>
            <a:ext cx="2226572" cy="4025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0045" indent="-360045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rgbClr val="002060"/>
                </a:solidFill>
              </a:rPr>
              <a:t>Hệ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số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định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hướng</a:t>
            </a:r>
            <a:endParaRPr lang="en-US" dirty="0">
              <a:solidFill>
                <a:srgbClr val="002060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143000" y="5105400"/>
          <a:ext cx="2765118" cy="91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Equation" r:id="rId5" imgW="1307465" imgH="431800" progId="Equation.DSMT4">
                  <p:embed/>
                </p:oleObj>
              </mc:Choice>
              <mc:Fallback>
                <p:oleObj name="Equation" r:id="rId5" imgW="1307465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105400"/>
                        <a:ext cx="2765118" cy="9124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457200" y="1371600"/>
            <a:ext cx="89154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lợi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Anten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được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định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nghĩa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lợi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công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suất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lớn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cực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đại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của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lợi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Anten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1995321" y="2057400"/>
          <a:ext cx="4862679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Equation" r:id="rId1" imgW="2070100" imgH="469900" progId="Equation.DSMT4">
                  <p:embed/>
                </p:oleObj>
              </mc:Choice>
              <mc:Fallback>
                <p:oleObj name="Equation" r:id="rId1" imgW="2070100" imgH="469900" progId="Equation.DSMT4">
                  <p:embed/>
                  <p:pic>
                    <p:nvPicPr>
                      <p:cNvPr id="0" name="Picture 7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321" y="2057400"/>
                        <a:ext cx="4862679" cy="1103313"/>
                      </a:xfrm>
                      <a:prstGeom prst="rect">
                        <a:avLst/>
                      </a:prstGeom>
                      <a:solidFill>
                        <a:schemeClr val="bg1">
                          <a:alpha val="20000"/>
                        </a:schemeClr>
                      </a:solidFill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0" y="3429000"/>
            <a:ext cx="342900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Cường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độ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công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suất</a:t>
            </a:r>
            <a:endParaRPr lang="en-US" sz="2400" b="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Line 20"/>
          <p:cNvSpPr>
            <a:spLocks noChangeShapeType="1"/>
          </p:cNvSpPr>
          <p:nvPr/>
        </p:nvSpPr>
        <p:spPr bwMode="auto">
          <a:xfrm flipH="1">
            <a:off x="3048000" y="2590800"/>
            <a:ext cx="1371600" cy="838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Oval 21"/>
          <p:cNvSpPr>
            <a:spLocks noChangeArrowheads="1"/>
          </p:cNvSpPr>
          <p:nvPr/>
        </p:nvSpPr>
        <p:spPr bwMode="auto">
          <a:xfrm>
            <a:off x="3962400" y="2043545"/>
            <a:ext cx="1295400" cy="5334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3276600" y="3505200"/>
            <a:ext cx="342900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Công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suất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hấp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thụ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của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Anten</a:t>
            </a:r>
            <a:endParaRPr lang="en-US" sz="2400" b="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10" name="Line 23"/>
          <p:cNvSpPr>
            <a:spLocks noChangeShapeType="1"/>
          </p:cNvSpPr>
          <p:nvPr/>
        </p:nvSpPr>
        <p:spPr bwMode="auto">
          <a:xfrm>
            <a:off x="4343400" y="3124200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Line 24"/>
          <p:cNvSpPr>
            <a:spLocks noChangeShapeType="1"/>
          </p:cNvSpPr>
          <p:nvPr/>
        </p:nvSpPr>
        <p:spPr bwMode="auto">
          <a:xfrm flipV="1">
            <a:off x="5638800" y="1828800"/>
            <a:ext cx="6858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Text Box 26"/>
          <p:cNvSpPr txBox="1">
            <a:spLocks noChangeArrowheads="1"/>
          </p:cNvSpPr>
          <p:nvPr/>
        </p:nvSpPr>
        <p:spPr bwMode="auto">
          <a:xfrm>
            <a:off x="6019800" y="1492250"/>
            <a:ext cx="3429000" cy="442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300"/>
              <a:t>Hiệu suất của anten</a:t>
            </a:r>
            <a:endParaRPr lang="en-US" sz="2300"/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>
            <a:off x="6019800" y="2743200"/>
            <a:ext cx="9906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6934200" y="3429000"/>
            <a:ext cx="251460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Độ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lợi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hướng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+mn-lt"/>
              </a:rPr>
              <a:t>tính</a:t>
            </a:r>
            <a:endParaRPr lang="en-US" sz="2400" b="0" dirty="0">
              <a:solidFill>
                <a:srgbClr val="002060"/>
              </a:solidFill>
              <a:latin typeface="+mn-lt"/>
            </a:endParaRPr>
          </a:p>
        </p:txBody>
      </p:sp>
      <p:graphicFrame>
        <p:nvGraphicFramePr>
          <p:cNvPr id="15" name="Object 8"/>
          <p:cNvGraphicFramePr>
            <a:graphicFrameLocks noChangeAspect="1"/>
          </p:cNvGraphicFramePr>
          <p:nvPr/>
        </p:nvGraphicFramePr>
        <p:xfrm>
          <a:off x="2133600" y="5105400"/>
          <a:ext cx="489771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Equation" r:id="rId3" imgW="1892300" imgH="431800" progId="Equation.DSMT4">
                  <p:embed/>
                </p:oleObj>
              </mc:Choice>
              <mc:Fallback>
                <p:oleObj name="Equation" r:id="rId3" imgW="1892300" imgH="431800" progId="Equation.DSMT4">
                  <p:embed/>
                  <p:pic>
                    <p:nvPicPr>
                      <p:cNvPr id="0" name="Picture 7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05400"/>
                        <a:ext cx="4897718" cy="11176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/>
          <p:cNvSpPr txBox="1"/>
          <p:nvPr/>
        </p:nvSpPr>
        <p:spPr>
          <a:xfrm>
            <a:off x="457200" y="27709"/>
            <a:ext cx="8229600" cy="88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00B050"/>
                </a:solidFill>
              </a:rPr>
              <a:t>CHƯƠNG 2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685800" y="1524753"/>
          <a:ext cx="4482173" cy="38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1" imgW="2946400" imgH="228600" progId="Equation.DSMT4">
                  <p:embed/>
                </p:oleObj>
              </mc:Choice>
              <mc:Fallback>
                <p:oleObj name="Equation" r:id="rId1" imgW="29464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24753"/>
                        <a:ext cx="4482173" cy="38024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540327" y="983489"/>
            <a:ext cx="4545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EIRP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 (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Equivalent </a:t>
            </a:r>
            <a:r>
              <a:rPr lang="en-US" dirty="0" err="1" smtClean="0">
                <a:solidFill>
                  <a:srgbClr val="00B050"/>
                </a:solidFill>
                <a:latin typeface="+mn-lt"/>
              </a:rPr>
              <a:t>Isotropically</a:t>
            </a:r>
            <a:r>
              <a:rPr lang="en-US" dirty="0" smtClean="0">
                <a:solidFill>
                  <a:srgbClr val="00B050"/>
                </a:solidFill>
                <a:latin typeface="+mn-lt"/>
              </a:rPr>
              <a:t> Radiated Power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) </a:t>
            </a:r>
            <a:endParaRPr lang="en-US" dirty="0"/>
          </a:p>
        </p:txBody>
      </p:sp>
      <p:sp>
        <p:nvSpPr>
          <p:cNvPr id="6" name="Title 1"/>
          <p:cNvSpPr txBox="1"/>
          <p:nvPr/>
        </p:nvSpPr>
        <p:spPr>
          <a:xfrm>
            <a:off x="457200" y="27709"/>
            <a:ext cx="8229600" cy="88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00B050"/>
                </a:solidFill>
              </a:rPr>
              <a:t>CHƯƠNG 2</a:t>
            </a:r>
            <a:endParaRPr lang="en-US" dirty="0"/>
          </a:p>
        </p:txBody>
      </p:sp>
      <p:graphicFrame>
        <p:nvGraphicFramePr>
          <p:cNvPr id="7" name="Object 6"/>
          <p:cNvGraphicFramePr>
            <a:graphicFrameLocks noGrp="1" noChangeAspect="1"/>
          </p:cNvGraphicFramePr>
          <p:nvPr/>
        </p:nvGraphicFramePr>
        <p:xfrm>
          <a:off x="858982" y="2514600"/>
          <a:ext cx="37338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3" imgW="1435100" imgH="241300" progId="Equation.3">
                  <p:embed/>
                </p:oleObj>
              </mc:Choice>
              <mc:Fallback>
                <p:oleObj name="Equation" r:id="rId3" imgW="1435100" imgH="241300" progId="Equation.3">
                  <p:embed/>
                  <p:pic>
                    <p:nvPicPr>
                      <p:cNvPr id="0" name="Object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982" y="2514600"/>
                        <a:ext cx="3733800" cy="627062"/>
                      </a:xfrm>
                      <a:prstGeom prst="rect">
                        <a:avLst/>
                      </a:prstGeom>
                      <a:solidFill>
                        <a:srgbClr val="99CCFF">
                          <a:alpha val="2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562600" y="2057400"/>
          <a:ext cx="172878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Equation" r:id="rId5" imgW="787400" imgH="520700" progId="Equation.DSMT4">
                  <p:embed/>
                </p:oleObj>
              </mc:Choice>
              <mc:Fallback>
                <p:oleObj name="Equation" r:id="rId5" imgW="787400" imgH="5207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057400"/>
                        <a:ext cx="1728788" cy="11430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791200" y="3865326"/>
          <a:ext cx="13716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Equation" r:id="rId7" imgW="596900" imgH="508000" progId="Equation.DSMT4">
                  <p:embed/>
                </p:oleObj>
              </mc:Choice>
              <mc:Fallback>
                <p:oleObj name="Equation" r:id="rId7" imgW="596900" imgH="508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865326"/>
                        <a:ext cx="1371600" cy="11668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4592782" y="1168155"/>
            <a:ext cx="4572000" cy="9417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  <a:defRPr/>
            </a:pPr>
            <a:r>
              <a:rPr lang="en-US" sz="2400" u="sng" kern="0" dirty="0" err="1">
                <a:solidFill>
                  <a:srgbClr val="002060"/>
                </a:solidFill>
              </a:rPr>
              <a:t>mật</a:t>
            </a:r>
            <a:r>
              <a:rPr lang="en-US" sz="2400" u="sng" kern="0" dirty="0">
                <a:solidFill>
                  <a:srgbClr val="002060"/>
                </a:solidFill>
              </a:rPr>
              <a:t> </a:t>
            </a:r>
            <a:r>
              <a:rPr lang="en-US" sz="2400" u="sng" kern="0" dirty="0" err="1">
                <a:solidFill>
                  <a:srgbClr val="002060"/>
                </a:solidFill>
              </a:rPr>
              <a:t>độ</a:t>
            </a:r>
            <a:r>
              <a:rPr lang="en-US" sz="2400" u="sng" kern="0" dirty="0">
                <a:solidFill>
                  <a:srgbClr val="002060"/>
                </a:solidFill>
              </a:rPr>
              <a:t> </a:t>
            </a:r>
            <a:r>
              <a:rPr lang="en-US" sz="2400" u="sng" kern="0" dirty="0" err="1">
                <a:solidFill>
                  <a:srgbClr val="002060"/>
                </a:solidFill>
              </a:rPr>
              <a:t>công</a:t>
            </a:r>
            <a:r>
              <a:rPr lang="en-US" sz="2400" u="sng" kern="0" dirty="0">
                <a:solidFill>
                  <a:srgbClr val="002060"/>
                </a:solidFill>
              </a:rPr>
              <a:t> </a:t>
            </a:r>
            <a:r>
              <a:rPr lang="en-US" sz="2400" u="sng" kern="0" dirty="0" err="1">
                <a:solidFill>
                  <a:srgbClr val="002060"/>
                </a:solidFill>
              </a:rPr>
              <a:t>suất</a:t>
            </a:r>
            <a:r>
              <a:rPr lang="en-US" sz="2400" u="sng" kern="0" dirty="0">
                <a:solidFill>
                  <a:srgbClr val="002060"/>
                </a:solidFill>
              </a:rPr>
              <a:t> </a:t>
            </a:r>
            <a:r>
              <a:rPr lang="en-US" sz="2400" u="sng" kern="0" dirty="0" err="1">
                <a:solidFill>
                  <a:srgbClr val="002060"/>
                </a:solidFill>
              </a:rPr>
              <a:t>trung</a:t>
            </a:r>
            <a:r>
              <a:rPr lang="en-US" sz="2400" u="sng" kern="0" dirty="0">
                <a:solidFill>
                  <a:srgbClr val="002060"/>
                </a:solidFill>
              </a:rPr>
              <a:t> </a:t>
            </a:r>
            <a:r>
              <a:rPr lang="en-US" sz="2400" u="sng" kern="0" dirty="0" err="1">
                <a:solidFill>
                  <a:srgbClr val="002060"/>
                </a:solidFill>
              </a:rPr>
              <a:t>bình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r>
              <a:rPr lang="en-US" sz="2400" kern="0" dirty="0" err="1">
                <a:solidFill>
                  <a:srgbClr val="002060"/>
                </a:solidFill>
              </a:rPr>
              <a:t>trong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r>
              <a:rPr lang="en-US" sz="2400" kern="0" dirty="0" err="1">
                <a:solidFill>
                  <a:srgbClr val="002060"/>
                </a:solidFill>
              </a:rPr>
              <a:t>mặt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r>
              <a:rPr lang="en-US" sz="2400" kern="0" dirty="0" err="1">
                <a:solidFill>
                  <a:srgbClr val="002060"/>
                </a:solidFill>
              </a:rPr>
              <a:t>phẳng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r>
              <a:rPr lang="en-US" sz="2400" kern="0" dirty="0" err="1">
                <a:solidFill>
                  <a:srgbClr val="002060"/>
                </a:solidFill>
              </a:rPr>
              <a:t>tới</a:t>
            </a:r>
            <a:endParaRPr lang="en-US" sz="2400" kern="0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67973" y="3218995"/>
            <a:ext cx="37474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vector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sóng</a:t>
            </a:r>
            <a:r>
              <a:rPr lang="en-US" dirty="0"/>
              <a:t> </a:t>
            </a:r>
            <a:r>
              <a:rPr lang="en-US" dirty="0" err="1"/>
              <a:t>tới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52400" y="1905000"/>
            <a:ext cx="4572000" cy="4921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  <a:defRPr/>
            </a:pPr>
            <a:r>
              <a:rPr lang="en-US" sz="2400" u="sng" kern="0" dirty="0" err="1" smtClean="0">
                <a:solidFill>
                  <a:srgbClr val="002060"/>
                </a:solidFill>
              </a:rPr>
              <a:t>Công</a:t>
            </a:r>
            <a:r>
              <a:rPr lang="en-US" sz="2400" u="sng" kern="0" dirty="0" smtClean="0">
                <a:solidFill>
                  <a:srgbClr val="002060"/>
                </a:solidFill>
              </a:rPr>
              <a:t> </a:t>
            </a:r>
            <a:r>
              <a:rPr lang="en-US" sz="2400" u="sng" kern="0" dirty="0" err="1" smtClean="0">
                <a:solidFill>
                  <a:srgbClr val="002060"/>
                </a:solidFill>
              </a:rPr>
              <a:t>suất</a:t>
            </a:r>
            <a:r>
              <a:rPr lang="en-US" sz="2400" u="sng" kern="0" dirty="0" smtClean="0">
                <a:solidFill>
                  <a:srgbClr val="002060"/>
                </a:solidFill>
              </a:rPr>
              <a:t> </a:t>
            </a:r>
            <a:r>
              <a:rPr lang="en-US" sz="2400" u="sng" kern="0" dirty="0" err="1" smtClean="0">
                <a:solidFill>
                  <a:srgbClr val="002060"/>
                </a:solidFill>
              </a:rPr>
              <a:t>anten</a:t>
            </a:r>
            <a:r>
              <a:rPr lang="en-US" sz="2400" u="sng" kern="0" dirty="0" smtClean="0">
                <a:solidFill>
                  <a:srgbClr val="002060"/>
                </a:solidFill>
              </a:rPr>
              <a:t> </a:t>
            </a:r>
            <a:r>
              <a:rPr lang="en-US" sz="2400" u="sng" kern="0" dirty="0" err="1" smtClean="0">
                <a:solidFill>
                  <a:srgbClr val="002060"/>
                </a:solidFill>
              </a:rPr>
              <a:t>thu</a:t>
            </a:r>
            <a:endParaRPr lang="en-US" sz="2400" kern="0" dirty="0">
              <a:solidFill>
                <a:srgbClr val="002060"/>
              </a:solidFill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85965" y="3865326"/>
          <a:ext cx="4572000" cy="785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Equation" r:id="rId9" imgW="2438400" imgH="419100" progId="Equation.DSMT4">
                  <p:embed/>
                </p:oleObj>
              </mc:Choice>
              <mc:Fallback>
                <p:oleObj name="Equation" r:id="rId9" imgW="24384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65" y="3865326"/>
                        <a:ext cx="4572000" cy="785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756689" y="3461318"/>
            <a:ext cx="3363421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u="sng" kern="0" dirty="0" err="1" smtClean="0">
                <a:solidFill>
                  <a:srgbClr val="C00000"/>
                </a:solidFill>
              </a:rPr>
              <a:t>Diện</a:t>
            </a:r>
            <a:r>
              <a:rPr lang="en-US" u="sng" kern="0" dirty="0" smtClean="0">
                <a:solidFill>
                  <a:srgbClr val="C00000"/>
                </a:solidFill>
              </a:rPr>
              <a:t> </a:t>
            </a:r>
            <a:r>
              <a:rPr lang="en-US" u="sng" kern="0" dirty="0" err="1" smtClean="0">
                <a:solidFill>
                  <a:srgbClr val="C00000"/>
                </a:solidFill>
              </a:rPr>
              <a:t>tích</a:t>
            </a:r>
            <a:r>
              <a:rPr lang="en-US" u="sng" kern="0" dirty="0" smtClean="0">
                <a:solidFill>
                  <a:srgbClr val="C00000"/>
                </a:solidFill>
              </a:rPr>
              <a:t> </a:t>
            </a:r>
            <a:r>
              <a:rPr lang="en-US" u="sng" kern="0" dirty="0" err="1">
                <a:solidFill>
                  <a:srgbClr val="C00000"/>
                </a:solidFill>
              </a:rPr>
              <a:t>hiệu</a:t>
            </a:r>
            <a:r>
              <a:rPr lang="en-US" u="sng" kern="0" dirty="0">
                <a:solidFill>
                  <a:srgbClr val="C00000"/>
                </a:solidFill>
              </a:rPr>
              <a:t> </a:t>
            </a:r>
            <a:r>
              <a:rPr lang="en-US" u="sng" kern="0" dirty="0" err="1">
                <a:solidFill>
                  <a:srgbClr val="C00000"/>
                </a:solidFill>
              </a:rPr>
              <a:t>dụng</a:t>
            </a:r>
            <a:r>
              <a:rPr lang="en-US" u="sng" kern="0" dirty="0">
                <a:solidFill>
                  <a:srgbClr val="C00000"/>
                </a:solidFill>
              </a:rPr>
              <a:t> </a:t>
            </a:r>
            <a:r>
              <a:rPr lang="en-US" u="sng" kern="0" dirty="0" err="1">
                <a:solidFill>
                  <a:srgbClr val="C00000"/>
                </a:solidFill>
              </a:rPr>
              <a:t>của</a:t>
            </a:r>
            <a:r>
              <a:rPr lang="en-US" u="sng" kern="0" dirty="0">
                <a:solidFill>
                  <a:srgbClr val="C00000"/>
                </a:solidFill>
              </a:rPr>
              <a:t> </a:t>
            </a:r>
            <a:r>
              <a:rPr lang="en-US" u="sng" kern="0" dirty="0" err="1">
                <a:solidFill>
                  <a:srgbClr val="C00000"/>
                </a:solidFill>
              </a:rPr>
              <a:t>Anten</a:t>
            </a:r>
            <a:endParaRPr lang="en-US" u="sng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/>
        </p:nvSpPr>
        <p:spPr bwMode="auto">
          <a:xfrm>
            <a:off x="0" y="893624"/>
            <a:ext cx="9144000" cy="6303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2009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en-US" dirty="0" smtClean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0" y="893624"/>
            <a:ext cx="9144000" cy="55833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60045" indent="-360045">
              <a:lnSpc>
                <a:spcPct val="120000"/>
              </a:lnSpc>
              <a:spcBef>
                <a:spcPts val="0"/>
              </a:spcBef>
            </a:pPr>
            <a:endParaRPr lang="en-US" sz="2800" b="0" dirty="0" smtClean="0">
              <a:solidFill>
                <a:srgbClr val="002060"/>
              </a:solidFill>
            </a:endParaRPr>
          </a:p>
          <a:p>
            <a:pPr marL="360045" indent="-360045">
              <a:lnSpc>
                <a:spcPct val="120000"/>
              </a:lnSpc>
              <a:spcBef>
                <a:spcPts val="0"/>
              </a:spcBef>
            </a:pPr>
            <a:endParaRPr lang="en-US" sz="2800" dirty="0" smtClean="0"/>
          </a:p>
          <a:p>
            <a:pPr marL="360045" indent="-360045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600" b="0" dirty="0" smtClean="0">
              <a:solidFill>
                <a:srgbClr val="002060"/>
              </a:solidFill>
            </a:endParaRPr>
          </a:p>
          <a:p>
            <a:pPr marL="360045" indent="-360045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0" dirty="0" smtClean="0">
              <a:solidFill>
                <a:srgbClr val="002060"/>
              </a:solidFill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002060"/>
              </a:buClr>
              <a:buSzTx/>
              <a:defRPr/>
            </a:pPr>
            <a:endParaRPr kumimoji="0" lang="en-US" sz="260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914400"/>
            <a:ext cx="9144000" cy="2667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</a:t>
            </a:r>
            <a:r>
              <a:rPr kumimoji="0" lang="en-US" sz="2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=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Công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suất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anten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phát</a:t>
            </a:r>
            <a:endParaRPr kumimoji="0" lang="en-US" sz="2600" b="0" i="0" u="none" strike="noStrike" kern="0" cap="none" spc="0" normalizeH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lang="en-US" sz="2600" b="0" kern="0" baseline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sz="2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lợi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công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suất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anten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phát</a:t>
            </a:r>
            <a:endParaRPr kumimoji="0" lang="en-US" sz="2600" b="0" i="0" u="none" strike="noStrike" kern="0" cap="none" spc="0" normalizeH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lang="en-US" sz="2600" b="0" kern="0" baseline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lợi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định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hướng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anten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phát</a:t>
            </a:r>
            <a:endParaRPr kumimoji="0" lang="en-US" sz="2600" b="0" i="0" u="none" strike="noStrike" kern="0" cap="none" spc="0" normalizeH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lang="en-US" sz="2600" b="0" kern="0" baseline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sz="2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Hiệu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suất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anten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phát</a:t>
            </a:r>
            <a:endParaRPr lang="en-US" sz="2600" b="0" kern="0" dirty="0" smtClean="0">
              <a:solidFill>
                <a:srgbClr val="002060"/>
              </a:solidFill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l-GR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Γ</a:t>
            </a:r>
            <a:r>
              <a:rPr kumimoji="0" lang="en-US" sz="2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Hệ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số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phát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xạ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anten</a:t>
            </a:r>
            <a:r>
              <a:rPr kumimoji="0" lang="en-US" sz="2600" b="0" i="0" u="none" strike="noStrike" kern="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0" u="none" strike="noStrike" kern="0" cap="none" spc="0" normalizeH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phát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NI-Times" pitchFamily="2" charset="0"/>
              <a:ea typeface="+mn-ea"/>
              <a:cs typeface="+mn-cs"/>
            </a:endParaRPr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3409950"/>
            <a:ext cx="900059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3329068" y="228600"/>
            <a:ext cx="22731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Tuyến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0" y="893624"/>
            <a:ext cx="9144000" cy="6303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2009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en-US" dirty="0" smtClean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893624"/>
            <a:ext cx="9144000" cy="55833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60045" indent="-360045">
              <a:lnSpc>
                <a:spcPct val="120000"/>
              </a:lnSpc>
              <a:spcBef>
                <a:spcPts val="0"/>
              </a:spcBef>
            </a:pPr>
            <a:endParaRPr lang="en-US" sz="2800" b="0" dirty="0" smtClean="0">
              <a:solidFill>
                <a:srgbClr val="002060"/>
              </a:solidFill>
            </a:endParaRPr>
          </a:p>
          <a:p>
            <a:pPr marL="360045" indent="-360045">
              <a:lnSpc>
                <a:spcPct val="120000"/>
              </a:lnSpc>
              <a:spcBef>
                <a:spcPts val="0"/>
              </a:spcBef>
            </a:pPr>
            <a:endParaRPr lang="en-US" sz="2800" dirty="0" smtClean="0"/>
          </a:p>
          <a:p>
            <a:pPr marL="360045" indent="-360045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600" b="0" dirty="0" smtClean="0">
              <a:solidFill>
                <a:srgbClr val="002060"/>
              </a:solidFill>
            </a:endParaRPr>
          </a:p>
          <a:p>
            <a:pPr marL="360045" indent="-360045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0" dirty="0" smtClean="0">
              <a:solidFill>
                <a:srgbClr val="002060"/>
              </a:solidFill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002060"/>
              </a:buClr>
              <a:buSzTx/>
              <a:defRPr/>
            </a:pPr>
            <a:endParaRPr kumimoji="0" lang="en-US" sz="260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0" y="914400"/>
            <a:ext cx="9144000" cy="556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Gọi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kern="0" dirty="0" err="1" smtClean="0">
                <a:solidFill>
                  <a:srgbClr val="C00000"/>
                </a:solidFill>
                <a:latin typeface="+mn-lt"/>
              </a:rPr>
              <a:t>A</a:t>
            </a:r>
            <a:r>
              <a:rPr lang="en-US" sz="2600" kern="0" baseline="-25000" dirty="0" err="1" smtClean="0">
                <a:solidFill>
                  <a:srgbClr val="C00000"/>
                </a:solidFill>
                <a:latin typeface="+mn-lt"/>
              </a:rPr>
              <a:t>r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là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diện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tích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hiệu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dụng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của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anten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thu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: 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Tỷ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lệ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công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suất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thu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và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công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suất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phát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ra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600" b="0" kern="0" dirty="0" err="1" smtClean="0">
                <a:solidFill>
                  <a:srgbClr val="002060"/>
                </a:solidFill>
                <a:latin typeface="+mn-lt"/>
              </a:rPr>
              <a:t>là</a:t>
            </a:r>
            <a:r>
              <a:rPr lang="en-US" sz="2600" b="0" kern="0" dirty="0" smtClean="0">
                <a:solidFill>
                  <a:srgbClr val="002060"/>
                </a:solidFill>
                <a:latin typeface="+mn-lt"/>
              </a:rPr>
              <a:t>: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Object 21"/>
          <p:cNvGraphicFramePr>
            <a:graphicFrameLocks noChangeAspect="1"/>
          </p:cNvGraphicFramePr>
          <p:nvPr/>
        </p:nvGraphicFramePr>
        <p:xfrm>
          <a:off x="302090" y="1295400"/>
          <a:ext cx="302697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Equation" r:id="rId1" imgW="1587500" imgH="558800" progId="Equation.DSMT4">
                  <p:embed/>
                </p:oleObj>
              </mc:Choice>
              <mc:Fallback>
                <p:oleObj name="Equation" r:id="rId1" imgW="1587500" imgH="558800" progId="Equation.DSMT4">
                  <p:embed/>
                  <p:pic>
                    <p:nvPicPr>
                      <p:cNvPr id="0" name="Picture 9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090" y="1295400"/>
                        <a:ext cx="3026978" cy="10668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381000" y="2895600"/>
          <a:ext cx="465797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Equation" r:id="rId3" imgW="1892300" imgH="495300" progId="Equation.DSMT4">
                  <p:embed/>
                </p:oleObj>
              </mc:Choice>
              <mc:Fallback>
                <p:oleObj name="Equation" r:id="rId3" imgW="1892300" imgH="495300" progId="Equation.DSMT4">
                  <p:embed/>
                  <p:pic>
                    <p:nvPicPr>
                      <p:cNvPr id="0" name="Picture 9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895600"/>
                        <a:ext cx="4657970" cy="12192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3886200" y="1371601"/>
          <a:ext cx="4572000" cy="103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5" imgW="2438400" imgH="495300" progId="Equation.DSMT4">
                  <p:embed/>
                </p:oleObj>
              </mc:Choice>
              <mc:Fallback>
                <p:oleObj name="Equation" r:id="rId5" imgW="2438400" imgH="495300" progId="Equation.DSMT4">
                  <p:embed/>
                  <p:pic>
                    <p:nvPicPr>
                      <p:cNvPr id="0" name="Picture 9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371601"/>
                        <a:ext cx="4572000" cy="103909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519127" y="3315980"/>
            <a:ext cx="762000" cy="369332"/>
          </a:xfrm>
          <a:prstGeom prst="rect">
            <a:avLst/>
          </a:prstGeom>
          <a:solidFill>
            <a:srgbClr val="00FF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(1)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29068" y="62345"/>
            <a:ext cx="22731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Tuyến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6200" y="28956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suất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6172200" y="2286000"/>
            <a:ext cx="12954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8209" y="4191000"/>
            <a:ext cx="8839200" cy="891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81000" y="5092197"/>
          <a:ext cx="381000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8" imgW="1714500" imgH="520700" progId="Equation.3">
                  <p:embed/>
                </p:oleObj>
              </mc:Choice>
              <mc:Fallback>
                <p:oleObj name="Equation" r:id="rId8" imgW="1714500" imgH="520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092197"/>
                        <a:ext cx="3810000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432964" y="4898230"/>
            <a:ext cx="762000" cy="369332"/>
          </a:xfrm>
          <a:prstGeom prst="rect">
            <a:avLst/>
          </a:prstGeom>
          <a:solidFill>
            <a:srgbClr val="00FF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(2)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0" y="5562600"/>
            <a:ext cx="762000" cy="369332"/>
          </a:xfrm>
          <a:prstGeom prst="rect">
            <a:avLst/>
          </a:prstGeom>
          <a:solidFill>
            <a:srgbClr val="00FF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(3)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4006334"/>
            <a:ext cx="1456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  <a:latin typeface="+mn-lt"/>
              </a:rPr>
              <a:t>D = </a:t>
            </a:r>
            <a:r>
              <a:rPr lang="en-US" b="0" dirty="0" err="1" smtClean="0">
                <a:solidFill>
                  <a:srgbClr val="C00000"/>
                </a:solidFill>
                <a:latin typeface="+mn-lt"/>
              </a:rPr>
              <a:t>G</a:t>
            </a:r>
            <a:r>
              <a:rPr lang="en-US" b="0" baseline="-25000" dirty="0" err="1" smtClean="0">
                <a:solidFill>
                  <a:srgbClr val="C00000"/>
                </a:solidFill>
                <a:latin typeface="+mn-lt"/>
              </a:rPr>
              <a:t>max</a:t>
            </a:r>
            <a:r>
              <a:rPr lang="en-US" b="0" dirty="0" smtClean="0">
                <a:solidFill>
                  <a:srgbClr val="C00000"/>
                </a:solidFill>
                <a:latin typeface="+mn-lt"/>
              </a:rPr>
              <a:t> = G</a:t>
            </a:r>
            <a:r>
              <a:rPr lang="en-US" b="0" baseline="-25000" dirty="0" smtClean="0">
                <a:solidFill>
                  <a:srgbClr val="C00000"/>
                </a:solidFill>
                <a:latin typeface="+mn-lt"/>
              </a:rPr>
              <a:t>0</a:t>
            </a:r>
            <a:r>
              <a:rPr lang="en-US" b="0" kern="0" dirty="0" smtClean="0">
                <a:solidFill>
                  <a:srgbClr val="C00000"/>
                </a:solidFill>
                <a:latin typeface="+mn-lt"/>
              </a:rPr>
              <a:t>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64063" y="6153834"/>
            <a:ext cx="78158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chemeClr val="hlink"/>
              </a:buClr>
            </a:pP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Công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thức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(1), (2), (3)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còn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được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gọi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là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công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thức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truyền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dẫn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b="0" kern="0" dirty="0" err="1" smtClean="0">
                <a:solidFill>
                  <a:srgbClr val="002060"/>
                </a:solidFill>
                <a:latin typeface="+mn-lt"/>
              </a:rPr>
              <a:t>Friis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 (</a:t>
            </a:r>
            <a:r>
              <a:rPr lang="en-US" kern="0" dirty="0" err="1" smtClean="0">
                <a:solidFill>
                  <a:srgbClr val="FF0000"/>
                </a:solidFill>
                <a:latin typeface="+mn-lt"/>
              </a:rPr>
              <a:t>Friis</a:t>
            </a:r>
            <a:r>
              <a:rPr lang="en-US" kern="0" dirty="0" smtClean="0">
                <a:solidFill>
                  <a:srgbClr val="FF0000"/>
                </a:solidFill>
                <a:latin typeface="+mn-lt"/>
              </a:rPr>
              <a:t> Transmission Equation</a:t>
            </a:r>
            <a:r>
              <a:rPr lang="en-US" b="0" kern="0" dirty="0" smtClean="0">
                <a:solidFill>
                  <a:srgbClr val="002060"/>
                </a:solidFill>
                <a:latin typeface="+mn-lt"/>
              </a:rPr>
              <a:t>)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399"/>
            <a:ext cx="8229600" cy="73429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CHƯƠNG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0" y="893624"/>
            <a:ext cx="9144000" cy="55833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8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8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Maxwell </a:t>
            </a:r>
            <a:r>
              <a:rPr lang="en-US" alt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 defTabSz="360045" eaLnBrk="1" hangingPunct="1">
              <a:lnSpc>
                <a:spcPts val="3800"/>
              </a:lnSpc>
              <a:spcBef>
                <a:spcPts val="1200"/>
              </a:spcBef>
              <a:buNone/>
            </a:pPr>
            <a:endParaRPr lang="en-US" altLang="en-US" sz="2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92"/>
          <p:cNvGraphicFramePr/>
          <p:nvPr/>
        </p:nvGraphicFramePr>
        <p:xfrm>
          <a:off x="685800" y="1676400"/>
          <a:ext cx="7772400" cy="4876802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540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Dạng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tích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phân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Dạng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 vi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</a:rPr>
                        <a:t>phân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</a:tr>
              <a:tr h="867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</a:tr>
              <a:tr h="867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</a:tr>
              <a:tr h="867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</a:tr>
              <a:tr h="867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</a:tr>
              <a:tr h="86729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FF66">
                            <a:alpha val="50000"/>
                          </a:srgbClr>
                        </a:gs>
                        <a:gs pos="100000">
                          <a:srgbClr val="99FF66">
                            <a:gamma/>
                            <a:tint val="85882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6" name="Object 35"/>
          <p:cNvGraphicFramePr>
            <a:graphicFrameLocks noChangeAspect="1"/>
          </p:cNvGraphicFramePr>
          <p:nvPr/>
        </p:nvGraphicFramePr>
        <p:xfrm>
          <a:off x="1371600" y="3962400"/>
          <a:ext cx="2133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" name="Equation" r:id="rId1" imgW="1054100" imgH="431800" progId="Equation.DSMT4">
                  <p:embed/>
                </p:oleObj>
              </mc:Choice>
              <mc:Fallback>
                <p:oleObj name="Equation" r:id="rId1" imgW="1054100" imgH="431800" progId="Equation.DSMT4">
                  <p:embed/>
                  <p:pic>
                    <p:nvPicPr>
                      <p:cNvPr id="0" name="Picture 113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962400"/>
                        <a:ext cx="21336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7"/>
          <p:cNvGraphicFramePr>
            <a:graphicFrameLocks noChangeAspect="1"/>
          </p:cNvGraphicFramePr>
          <p:nvPr/>
        </p:nvGraphicFramePr>
        <p:xfrm>
          <a:off x="1905000" y="4800600"/>
          <a:ext cx="1295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" name="Equation" r:id="rId3" imgW="685800" imgH="495300" progId="Equation.3">
                  <p:embed/>
                </p:oleObj>
              </mc:Choice>
              <mc:Fallback>
                <p:oleObj name="Equation" r:id="rId3" imgW="685800" imgH="495300" progId="Equation.3">
                  <p:embed/>
                  <p:pic>
                    <p:nvPicPr>
                      <p:cNvPr id="0" name="Picture 113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800600"/>
                        <a:ext cx="129540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9"/>
          <p:cNvGraphicFramePr>
            <a:graphicFrameLocks noChangeAspect="1"/>
          </p:cNvGraphicFramePr>
          <p:nvPr/>
        </p:nvGraphicFramePr>
        <p:xfrm>
          <a:off x="4648200" y="2209800"/>
          <a:ext cx="3759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" name="Equation" r:id="rId5" imgW="1879600" imgH="406400" progId="Equation.DSMT4">
                  <p:embed/>
                </p:oleObj>
              </mc:Choice>
              <mc:Fallback>
                <p:oleObj name="Equation" r:id="rId5" imgW="1879600" imgH="406400" progId="Equation.DSMT4">
                  <p:embed/>
                  <p:pic>
                    <p:nvPicPr>
                      <p:cNvPr id="0" name="Picture 113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209800"/>
                        <a:ext cx="37592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1"/>
          <p:cNvGraphicFramePr>
            <a:graphicFrameLocks noChangeAspect="1"/>
          </p:cNvGraphicFramePr>
          <p:nvPr/>
        </p:nvGraphicFramePr>
        <p:xfrm>
          <a:off x="4800600" y="3124200"/>
          <a:ext cx="3479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" name="Equation" r:id="rId7" imgW="1739900" imgH="406400" progId="Equation.DSMT4">
                  <p:embed/>
                </p:oleObj>
              </mc:Choice>
              <mc:Fallback>
                <p:oleObj name="Equation" r:id="rId7" imgW="1739900" imgH="406400" progId="Equation.DSMT4">
                  <p:embed/>
                  <p:pic>
                    <p:nvPicPr>
                      <p:cNvPr id="0" name="Picture 113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124200"/>
                        <a:ext cx="34798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3"/>
          <p:cNvGraphicFramePr>
            <a:graphicFrameLocks noChangeAspect="1"/>
          </p:cNvGraphicFramePr>
          <p:nvPr/>
        </p:nvGraphicFramePr>
        <p:xfrm>
          <a:off x="5029200" y="4114800"/>
          <a:ext cx="32146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" name="Equation" r:id="rId9" imgW="1473200" imgH="228600" progId="Equation.DSMT4">
                  <p:embed/>
                </p:oleObj>
              </mc:Choice>
              <mc:Fallback>
                <p:oleObj name="Equation" r:id="rId9" imgW="1473200" imgH="228600" progId="Equation.DSMT4">
                  <p:embed/>
                  <p:pic>
                    <p:nvPicPr>
                      <p:cNvPr id="0" name="Picture 11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114800"/>
                        <a:ext cx="3214688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5"/>
          <p:cNvGraphicFramePr>
            <a:graphicFrameLocks noChangeAspect="1"/>
          </p:cNvGraphicFramePr>
          <p:nvPr/>
        </p:nvGraphicFramePr>
        <p:xfrm>
          <a:off x="4800600" y="4953000"/>
          <a:ext cx="35353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" name="Equation" r:id="rId11" imgW="1663700" imgH="215900" progId="Equation.DSMT4">
                  <p:embed/>
                </p:oleObj>
              </mc:Choice>
              <mc:Fallback>
                <p:oleObj name="Equation" r:id="rId11" imgW="1663700" imgH="215900" progId="Equation.DSMT4">
                  <p:embed/>
                  <p:pic>
                    <p:nvPicPr>
                      <p:cNvPr id="0" name="Picture 11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953000"/>
                        <a:ext cx="3535363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0"/>
          <p:cNvGraphicFramePr>
            <a:graphicFrameLocks noChangeAspect="1"/>
          </p:cNvGraphicFramePr>
          <p:nvPr/>
        </p:nvGraphicFramePr>
        <p:xfrm>
          <a:off x="1143000" y="5715000"/>
          <a:ext cx="37719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" name="Equation" r:id="rId13" imgW="1574165" imgH="266700" progId="Equation.DSMT4">
                  <p:embed/>
                </p:oleObj>
              </mc:Choice>
              <mc:Fallback>
                <p:oleObj name="Equation" r:id="rId13" imgW="1574165" imgH="266700" progId="Equation.DSMT4">
                  <p:embed/>
                  <p:pic>
                    <p:nvPicPr>
                      <p:cNvPr id="0" name="Picture 113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715000"/>
                        <a:ext cx="3771900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6"/>
          <p:cNvGraphicFramePr>
            <a:graphicFrameLocks noChangeAspect="1"/>
          </p:cNvGraphicFramePr>
          <p:nvPr/>
        </p:nvGraphicFramePr>
        <p:xfrm>
          <a:off x="5486400" y="5650055"/>
          <a:ext cx="19050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" name="Equation" r:id="rId15" imgW="888365" imgH="431800" progId="Equation.3">
                  <p:embed/>
                </p:oleObj>
              </mc:Choice>
              <mc:Fallback>
                <p:oleObj name="Equation" r:id="rId15" imgW="888365" imgH="431800" progId="Equation.3">
                  <p:embed/>
                  <p:pic>
                    <p:nvPicPr>
                      <p:cNvPr id="0" name="Picture 113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650055"/>
                        <a:ext cx="1905000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39"/>
          <p:cNvGrpSpPr>
            <a:grpSpLocks noChangeAspect="1"/>
          </p:cNvGrpSpPr>
          <p:nvPr/>
        </p:nvGrpSpPr>
        <p:grpSpPr bwMode="auto">
          <a:xfrm>
            <a:off x="1143000" y="2140525"/>
            <a:ext cx="3276600" cy="971550"/>
            <a:chOff x="720" y="1296"/>
            <a:chExt cx="2064" cy="612"/>
          </a:xfrm>
        </p:grpSpPr>
        <p:sp>
          <p:nvSpPr>
            <p:cNvPr id="15" name="AutoShape 38"/>
            <p:cNvSpPr>
              <a:spLocks noChangeAspect="1" noChangeArrowheads="1" noTextEdit="1"/>
            </p:cNvSpPr>
            <p:nvPr/>
          </p:nvSpPr>
          <p:spPr bwMode="auto">
            <a:xfrm>
              <a:off x="720" y="1296"/>
              <a:ext cx="2064" cy="6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/>
            <p:cNvSpPr/>
            <p:nvPr/>
          </p:nvSpPr>
          <p:spPr bwMode="auto">
            <a:xfrm>
              <a:off x="1042" y="1419"/>
              <a:ext cx="174" cy="30"/>
            </a:xfrm>
            <a:custGeom>
              <a:avLst/>
              <a:gdLst>
                <a:gd name="T0" fmla="*/ 0 w 522"/>
                <a:gd name="T1" fmla="*/ 0 h 92"/>
                <a:gd name="T2" fmla="*/ 0 w 522"/>
                <a:gd name="T3" fmla="*/ 0 h 92"/>
                <a:gd name="T4" fmla="*/ 1 w 522"/>
                <a:gd name="T5" fmla="*/ 0 h 92"/>
                <a:gd name="T6" fmla="*/ 1 w 522"/>
                <a:gd name="T7" fmla="*/ 0 h 92"/>
                <a:gd name="T8" fmla="*/ 1 w 522"/>
                <a:gd name="T9" fmla="*/ 0 h 92"/>
                <a:gd name="T10" fmla="*/ 1 w 522"/>
                <a:gd name="T11" fmla="*/ 0 h 92"/>
                <a:gd name="T12" fmla="*/ 1 w 522"/>
                <a:gd name="T13" fmla="*/ 0 h 92"/>
                <a:gd name="T14" fmla="*/ 0 w 522"/>
                <a:gd name="T15" fmla="*/ 0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2" h="92">
                  <a:moveTo>
                    <a:pt x="0" y="57"/>
                  </a:moveTo>
                  <a:lnTo>
                    <a:pt x="0" y="34"/>
                  </a:lnTo>
                  <a:lnTo>
                    <a:pt x="444" y="34"/>
                  </a:lnTo>
                  <a:lnTo>
                    <a:pt x="430" y="0"/>
                  </a:lnTo>
                  <a:lnTo>
                    <a:pt x="522" y="46"/>
                  </a:lnTo>
                  <a:lnTo>
                    <a:pt x="430" y="92"/>
                  </a:lnTo>
                  <a:lnTo>
                    <a:pt x="444" y="5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Oval 41"/>
            <p:cNvSpPr>
              <a:spLocks noChangeArrowheads="1"/>
            </p:cNvSpPr>
            <p:nvPr/>
          </p:nvSpPr>
          <p:spPr bwMode="auto">
            <a:xfrm>
              <a:off x="763" y="1518"/>
              <a:ext cx="86" cy="9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42"/>
            <p:cNvSpPr/>
            <p:nvPr/>
          </p:nvSpPr>
          <p:spPr bwMode="auto">
            <a:xfrm>
              <a:off x="1666" y="1419"/>
              <a:ext cx="190" cy="30"/>
            </a:xfrm>
            <a:custGeom>
              <a:avLst/>
              <a:gdLst>
                <a:gd name="T0" fmla="*/ 0 w 569"/>
                <a:gd name="T1" fmla="*/ 0 h 92"/>
                <a:gd name="T2" fmla="*/ 0 w 569"/>
                <a:gd name="T3" fmla="*/ 0 h 92"/>
                <a:gd name="T4" fmla="*/ 1 w 569"/>
                <a:gd name="T5" fmla="*/ 0 h 92"/>
                <a:gd name="T6" fmla="*/ 1 w 569"/>
                <a:gd name="T7" fmla="*/ 0 h 92"/>
                <a:gd name="T8" fmla="*/ 1 w 569"/>
                <a:gd name="T9" fmla="*/ 0 h 92"/>
                <a:gd name="T10" fmla="*/ 1 w 569"/>
                <a:gd name="T11" fmla="*/ 0 h 92"/>
                <a:gd name="T12" fmla="*/ 1 w 569"/>
                <a:gd name="T13" fmla="*/ 0 h 92"/>
                <a:gd name="T14" fmla="*/ 0 w 569"/>
                <a:gd name="T15" fmla="*/ 0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9" h="92">
                  <a:moveTo>
                    <a:pt x="0" y="57"/>
                  </a:moveTo>
                  <a:lnTo>
                    <a:pt x="0" y="34"/>
                  </a:lnTo>
                  <a:lnTo>
                    <a:pt x="491" y="34"/>
                  </a:lnTo>
                  <a:lnTo>
                    <a:pt x="476" y="0"/>
                  </a:lnTo>
                  <a:lnTo>
                    <a:pt x="569" y="46"/>
                  </a:lnTo>
                  <a:lnTo>
                    <a:pt x="476" y="92"/>
                  </a:lnTo>
                  <a:lnTo>
                    <a:pt x="491" y="5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43"/>
            <p:cNvSpPr>
              <a:spLocks noChangeShapeType="1"/>
            </p:cNvSpPr>
            <p:nvPr/>
          </p:nvSpPr>
          <p:spPr bwMode="auto">
            <a:xfrm>
              <a:off x="2056" y="1567"/>
              <a:ext cx="18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44"/>
            <p:cNvSpPr/>
            <p:nvPr/>
          </p:nvSpPr>
          <p:spPr bwMode="auto">
            <a:xfrm>
              <a:off x="2563" y="1419"/>
              <a:ext cx="189" cy="30"/>
            </a:xfrm>
            <a:custGeom>
              <a:avLst/>
              <a:gdLst>
                <a:gd name="T0" fmla="*/ 0 w 569"/>
                <a:gd name="T1" fmla="*/ 0 h 92"/>
                <a:gd name="T2" fmla="*/ 0 w 569"/>
                <a:gd name="T3" fmla="*/ 0 h 92"/>
                <a:gd name="T4" fmla="*/ 1 w 569"/>
                <a:gd name="T5" fmla="*/ 0 h 92"/>
                <a:gd name="T6" fmla="*/ 1 w 569"/>
                <a:gd name="T7" fmla="*/ 0 h 92"/>
                <a:gd name="T8" fmla="*/ 1 w 569"/>
                <a:gd name="T9" fmla="*/ 0 h 92"/>
                <a:gd name="T10" fmla="*/ 1 w 569"/>
                <a:gd name="T11" fmla="*/ 0 h 92"/>
                <a:gd name="T12" fmla="*/ 1 w 569"/>
                <a:gd name="T13" fmla="*/ 0 h 92"/>
                <a:gd name="T14" fmla="*/ 0 w 569"/>
                <a:gd name="T15" fmla="*/ 0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9" h="92">
                  <a:moveTo>
                    <a:pt x="0" y="57"/>
                  </a:moveTo>
                  <a:lnTo>
                    <a:pt x="0" y="34"/>
                  </a:lnTo>
                  <a:lnTo>
                    <a:pt x="491" y="34"/>
                  </a:lnTo>
                  <a:lnTo>
                    <a:pt x="476" y="0"/>
                  </a:lnTo>
                  <a:lnTo>
                    <a:pt x="569" y="46"/>
                  </a:lnTo>
                  <a:lnTo>
                    <a:pt x="476" y="92"/>
                  </a:lnTo>
                  <a:lnTo>
                    <a:pt x="491" y="5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45"/>
            <p:cNvSpPr>
              <a:spLocks noChangeArrowheads="1"/>
            </p:cNvSpPr>
            <p:nvPr/>
          </p:nvSpPr>
          <p:spPr bwMode="auto">
            <a:xfrm>
              <a:off x="2275" y="1347"/>
              <a:ext cx="101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4600" b="0">
                  <a:solidFill>
                    <a:srgbClr val="000000"/>
                  </a:solidFill>
                  <a:latin typeface="Symbol" panose="05050102010706020507" pitchFamily="18" charset="2"/>
                </a:rPr>
                <a:t>ò</a:t>
              </a:r>
              <a:endParaRPr lang="en-US" b="0"/>
            </a:p>
          </p:txBody>
        </p:sp>
        <p:sp>
          <p:nvSpPr>
            <p:cNvPr id="22" name="Rectangle 46"/>
            <p:cNvSpPr>
              <a:spLocks noChangeArrowheads="1"/>
            </p:cNvSpPr>
            <p:nvPr/>
          </p:nvSpPr>
          <p:spPr bwMode="auto">
            <a:xfrm>
              <a:off x="1432" y="1347"/>
              <a:ext cx="101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4600" b="0">
                  <a:solidFill>
                    <a:srgbClr val="000000"/>
                  </a:solidFill>
                  <a:latin typeface="Symbol" panose="05050102010706020507" pitchFamily="18" charset="2"/>
                </a:rPr>
                <a:t>ò</a:t>
              </a:r>
              <a:endParaRPr lang="en-US" b="0"/>
            </a:p>
          </p:txBody>
        </p:sp>
        <p:sp>
          <p:nvSpPr>
            <p:cNvPr id="23" name="Rectangle 47"/>
            <p:cNvSpPr>
              <a:spLocks noChangeArrowheads="1"/>
            </p:cNvSpPr>
            <p:nvPr/>
          </p:nvSpPr>
          <p:spPr bwMode="auto">
            <a:xfrm>
              <a:off x="751" y="1347"/>
              <a:ext cx="101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4600" b="0" dirty="0">
                  <a:solidFill>
                    <a:srgbClr val="000000"/>
                  </a:solidFill>
                  <a:latin typeface="Symbol" panose="05050102010706020507" pitchFamily="18" charset="2"/>
                </a:rPr>
                <a:t>ò</a:t>
              </a:r>
              <a:endParaRPr lang="en-US" b="0" dirty="0"/>
            </a:p>
          </p:txBody>
        </p:sp>
        <p:sp>
          <p:nvSpPr>
            <p:cNvPr id="24" name="Rectangle 48"/>
            <p:cNvSpPr>
              <a:spLocks noChangeArrowheads="1"/>
            </p:cNvSpPr>
            <p:nvPr/>
          </p:nvSpPr>
          <p:spPr bwMode="auto">
            <a:xfrm>
              <a:off x="1902" y="1417"/>
              <a:ext cx="110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 dirty="0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b="0" dirty="0"/>
            </a:p>
          </p:txBody>
        </p:sp>
        <p:sp>
          <p:nvSpPr>
            <p:cNvPr id="25" name="Rectangle 49"/>
            <p:cNvSpPr>
              <a:spLocks noChangeArrowheads="1"/>
            </p:cNvSpPr>
            <p:nvPr/>
          </p:nvSpPr>
          <p:spPr bwMode="auto">
            <a:xfrm>
              <a:off x="1271" y="1417"/>
              <a:ext cx="110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b="0"/>
            </a:p>
          </p:txBody>
        </p:sp>
        <p:sp>
          <p:nvSpPr>
            <p:cNvPr id="26" name="Rectangle 50"/>
            <p:cNvSpPr>
              <a:spLocks noChangeArrowheads="1"/>
            </p:cNvSpPr>
            <p:nvPr/>
          </p:nvSpPr>
          <p:spPr bwMode="auto">
            <a:xfrm>
              <a:off x="2291" y="1764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b="0"/>
            </a:p>
          </p:txBody>
        </p:sp>
        <p:sp>
          <p:nvSpPr>
            <p:cNvPr id="27" name="Rectangle 51"/>
            <p:cNvSpPr>
              <a:spLocks noChangeArrowheads="1"/>
            </p:cNvSpPr>
            <p:nvPr/>
          </p:nvSpPr>
          <p:spPr bwMode="auto">
            <a:xfrm>
              <a:off x="1448" y="1764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b="0"/>
            </a:p>
          </p:txBody>
        </p:sp>
        <p:sp>
          <p:nvSpPr>
            <p:cNvPr id="28" name="Rectangle 52"/>
            <p:cNvSpPr>
              <a:spLocks noChangeArrowheads="1"/>
            </p:cNvSpPr>
            <p:nvPr/>
          </p:nvSpPr>
          <p:spPr bwMode="auto">
            <a:xfrm>
              <a:off x="760" y="1764"/>
              <a:ext cx="80" cy="1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b="0"/>
            </a:p>
          </p:txBody>
        </p:sp>
        <p:sp>
          <p:nvSpPr>
            <p:cNvPr id="29" name="Rectangle 53"/>
            <p:cNvSpPr>
              <a:spLocks noChangeArrowheads="1"/>
            </p:cNvSpPr>
            <p:nvPr/>
          </p:nvSpPr>
          <p:spPr bwMode="auto">
            <a:xfrm>
              <a:off x="2556" y="1440"/>
              <a:ext cx="21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dS</a:t>
              </a:r>
              <a:endParaRPr lang="en-US" b="0"/>
            </a:p>
          </p:txBody>
        </p:sp>
        <p:sp>
          <p:nvSpPr>
            <p:cNvPr id="30" name="Rectangle 54"/>
            <p:cNvSpPr>
              <a:spLocks noChangeArrowheads="1"/>
            </p:cNvSpPr>
            <p:nvPr/>
          </p:nvSpPr>
          <p:spPr bwMode="auto">
            <a:xfrm>
              <a:off x="2409" y="1440"/>
              <a:ext cx="144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b="0"/>
            </a:p>
          </p:txBody>
        </p:sp>
        <p:sp>
          <p:nvSpPr>
            <p:cNvPr id="31" name="Rectangle 55"/>
            <p:cNvSpPr>
              <a:spLocks noChangeArrowheads="1"/>
            </p:cNvSpPr>
            <p:nvPr/>
          </p:nvSpPr>
          <p:spPr bwMode="auto">
            <a:xfrm>
              <a:off x="2065" y="1593"/>
              <a:ext cx="15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dt</a:t>
              </a:r>
              <a:endParaRPr lang="en-US" b="0"/>
            </a:p>
          </p:txBody>
        </p:sp>
        <p:sp>
          <p:nvSpPr>
            <p:cNvPr id="32" name="Rectangle 56"/>
            <p:cNvSpPr>
              <a:spLocks noChangeArrowheads="1"/>
            </p:cNvSpPr>
            <p:nvPr/>
          </p:nvSpPr>
          <p:spPr bwMode="auto">
            <a:xfrm>
              <a:off x="2095" y="1316"/>
              <a:ext cx="100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b="0" dirty="0"/>
            </a:p>
          </p:txBody>
        </p:sp>
        <p:sp>
          <p:nvSpPr>
            <p:cNvPr id="33" name="Rectangle 57"/>
            <p:cNvSpPr>
              <a:spLocks noChangeArrowheads="1"/>
            </p:cNvSpPr>
            <p:nvPr/>
          </p:nvSpPr>
          <p:spPr bwMode="auto">
            <a:xfrm>
              <a:off x="1660" y="1440"/>
              <a:ext cx="21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dS</a:t>
              </a:r>
              <a:endParaRPr lang="en-US" b="0" dirty="0"/>
            </a:p>
          </p:txBody>
        </p:sp>
        <p:sp>
          <p:nvSpPr>
            <p:cNvPr id="34" name="Rectangle 58"/>
            <p:cNvSpPr>
              <a:spLocks noChangeArrowheads="1"/>
            </p:cNvSpPr>
            <p:nvPr/>
          </p:nvSpPr>
          <p:spPr bwMode="auto">
            <a:xfrm>
              <a:off x="1570" y="1440"/>
              <a:ext cx="78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 b="0"/>
            </a:p>
          </p:txBody>
        </p:sp>
        <p:sp>
          <p:nvSpPr>
            <p:cNvPr id="35" name="Rectangle 59"/>
            <p:cNvSpPr>
              <a:spLocks noChangeArrowheads="1"/>
            </p:cNvSpPr>
            <p:nvPr/>
          </p:nvSpPr>
          <p:spPr bwMode="auto">
            <a:xfrm>
              <a:off x="1035" y="1440"/>
              <a:ext cx="15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dl</a:t>
              </a:r>
              <a:endParaRPr lang="en-US" b="0"/>
            </a:p>
          </p:txBody>
        </p:sp>
        <p:sp>
          <p:nvSpPr>
            <p:cNvPr id="36" name="Rectangle 60"/>
            <p:cNvSpPr>
              <a:spLocks noChangeArrowheads="1"/>
            </p:cNvSpPr>
            <p:nvPr/>
          </p:nvSpPr>
          <p:spPr bwMode="auto">
            <a:xfrm>
              <a:off x="885" y="1440"/>
              <a:ext cx="144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endParaRPr lang="en-US" b="0" dirty="0"/>
            </a:p>
          </p:txBody>
        </p:sp>
        <p:sp>
          <p:nvSpPr>
            <p:cNvPr id="37" name="Rectangle 61"/>
            <p:cNvSpPr>
              <a:spLocks noChangeArrowheads="1"/>
            </p:cNvSpPr>
            <p:nvPr/>
          </p:nvSpPr>
          <p:spPr bwMode="auto">
            <a:xfrm>
              <a:off x="2438" y="1296"/>
              <a:ext cx="82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>
                  <a:solidFill>
                    <a:srgbClr val="000000"/>
                  </a:solidFill>
                  <a:latin typeface="MT Extra" panose="05050102010205020202" pitchFamily="18" charset="2"/>
                </a:rPr>
                <a:t>r</a:t>
              </a:r>
              <a:endParaRPr lang="en-US" b="0"/>
            </a:p>
          </p:txBody>
        </p:sp>
        <p:sp>
          <p:nvSpPr>
            <p:cNvPr id="38" name="Rectangle 62"/>
            <p:cNvSpPr>
              <a:spLocks noChangeArrowheads="1"/>
            </p:cNvSpPr>
            <p:nvPr/>
          </p:nvSpPr>
          <p:spPr bwMode="auto">
            <a:xfrm>
              <a:off x="1569" y="1296"/>
              <a:ext cx="82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 dirty="0">
                  <a:solidFill>
                    <a:srgbClr val="000000"/>
                  </a:solidFill>
                  <a:latin typeface="MT Extra" panose="05050102010205020202" pitchFamily="18" charset="2"/>
                </a:rPr>
                <a:t>r</a:t>
              </a:r>
              <a:endParaRPr lang="en-US" b="0" dirty="0"/>
            </a:p>
          </p:txBody>
        </p:sp>
        <p:sp>
          <p:nvSpPr>
            <p:cNvPr id="39" name="Rectangle 64"/>
            <p:cNvSpPr>
              <a:spLocks noChangeArrowheads="1"/>
            </p:cNvSpPr>
            <p:nvPr/>
          </p:nvSpPr>
          <p:spPr bwMode="auto">
            <a:xfrm>
              <a:off x="916" y="1296"/>
              <a:ext cx="82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 dirty="0">
                  <a:solidFill>
                    <a:srgbClr val="000000"/>
                  </a:solidFill>
                  <a:latin typeface="MT Extra" panose="05050102010205020202" pitchFamily="18" charset="2"/>
                </a:rPr>
                <a:t>r</a:t>
              </a:r>
              <a:endParaRPr lang="en-US" b="0" dirty="0"/>
            </a:p>
          </p:txBody>
        </p:sp>
      </p:grpSp>
      <p:grpSp>
        <p:nvGrpSpPr>
          <p:cNvPr id="40" name="Group 66"/>
          <p:cNvGrpSpPr>
            <a:grpSpLocks noChangeAspect="1"/>
          </p:cNvGrpSpPr>
          <p:nvPr/>
        </p:nvGrpSpPr>
        <p:grpSpPr bwMode="auto">
          <a:xfrm>
            <a:off x="1447800" y="3079750"/>
            <a:ext cx="2209800" cy="958850"/>
            <a:chOff x="912" y="1914"/>
            <a:chExt cx="1392" cy="604"/>
          </a:xfrm>
        </p:grpSpPr>
        <p:sp>
          <p:nvSpPr>
            <p:cNvPr id="41" name="AutoShape 65"/>
            <p:cNvSpPr>
              <a:spLocks noChangeAspect="1" noChangeArrowheads="1" noTextEdit="1"/>
            </p:cNvSpPr>
            <p:nvPr/>
          </p:nvSpPr>
          <p:spPr bwMode="auto">
            <a:xfrm>
              <a:off x="912" y="1914"/>
              <a:ext cx="1392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67"/>
            <p:cNvSpPr/>
            <p:nvPr/>
          </p:nvSpPr>
          <p:spPr bwMode="auto">
            <a:xfrm>
              <a:off x="1179" y="2022"/>
              <a:ext cx="157" cy="28"/>
            </a:xfrm>
            <a:custGeom>
              <a:avLst/>
              <a:gdLst>
                <a:gd name="T0" fmla="*/ 0 w 472"/>
                <a:gd name="T1" fmla="*/ 0 h 84"/>
                <a:gd name="T2" fmla="*/ 0 w 472"/>
                <a:gd name="T3" fmla="*/ 0 h 84"/>
                <a:gd name="T4" fmla="*/ 1 w 472"/>
                <a:gd name="T5" fmla="*/ 0 h 84"/>
                <a:gd name="T6" fmla="*/ 1 w 472"/>
                <a:gd name="T7" fmla="*/ 0 h 84"/>
                <a:gd name="T8" fmla="*/ 1 w 472"/>
                <a:gd name="T9" fmla="*/ 0 h 84"/>
                <a:gd name="T10" fmla="*/ 1 w 472"/>
                <a:gd name="T11" fmla="*/ 0 h 84"/>
                <a:gd name="T12" fmla="*/ 1 w 472"/>
                <a:gd name="T13" fmla="*/ 0 h 84"/>
                <a:gd name="T14" fmla="*/ 0 w 472"/>
                <a:gd name="T15" fmla="*/ 0 h 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2" h="84">
                  <a:moveTo>
                    <a:pt x="0" y="52"/>
                  </a:moveTo>
                  <a:lnTo>
                    <a:pt x="0" y="31"/>
                  </a:lnTo>
                  <a:lnTo>
                    <a:pt x="402" y="31"/>
                  </a:lnTo>
                  <a:lnTo>
                    <a:pt x="389" y="0"/>
                  </a:lnTo>
                  <a:lnTo>
                    <a:pt x="472" y="42"/>
                  </a:lnTo>
                  <a:lnTo>
                    <a:pt x="389" y="84"/>
                  </a:lnTo>
                  <a:lnTo>
                    <a:pt x="402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68"/>
            <p:cNvSpPr>
              <a:spLocks noChangeArrowheads="1"/>
            </p:cNvSpPr>
            <p:nvPr/>
          </p:nvSpPr>
          <p:spPr bwMode="auto">
            <a:xfrm>
              <a:off x="951" y="2118"/>
              <a:ext cx="77" cy="88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69"/>
            <p:cNvSpPr>
              <a:spLocks noChangeShapeType="1"/>
            </p:cNvSpPr>
            <p:nvPr/>
          </p:nvSpPr>
          <p:spPr bwMode="auto">
            <a:xfrm>
              <a:off x="1664" y="2162"/>
              <a:ext cx="16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70"/>
            <p:cNvSpPr/>
            <p:nvPr/>
          </p:nvSpPr>
          <p:spPr bwMode="auto">
            <a:xfrm>
              <a:off x="2100" y="2022"/>
              <a:ext cx="172" cy="28"/>
            </a:xfrm>
            <a:custGeom>
              <a:avLst/>
              <a:gdLst>
                <a:gd name="T0" fmla="*/ 0 w 514"/>
                <a:gd name="T1" fmla="*/ 0 h 84"/>
                <a:gd name="T2" fmla="*/ 0 w 514"/>
                <a:gd name="T3" fmla="*/ 0 h 84"/>
                <a:gd name="T4" fmla="*/ 1 w 514"/>
                <a:gd name="T5" fmla="*/ 0 h 84"/>
                <a:gd name="T6" fmla="*/ 1 w 514"/>
                <a:gd name="T7" fmla="*/ 0 h 84"/>
                <a:gd name="T8" fmla="*/ 1 w 514"/>
                <a:gd name="T9" fmla="*/ 0 h 84"/>
                <a:gd name="T10" fmla="*/ 1 w 514"/>
                <a:gd name="T11" fmla="*/ 0 h 84"/>
                <a:gd name="T12" fmla="*/ 1 w 514"/>
                <a:gd name="T13" fmla="*/ 0 h 84"/>
                <a:gd name="T14" fmla="*/ 0 w 514"/>
                <a:gd name="T15" fmla="*/ 0 h 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4" h="84">
                  <a:moveTo>
                    <a:pt x="0" y="52"/>
                  </a:moveTo>
                  <a:lnTo>
                    <a:pt x="0" y="31"/>
                  </a:lnTo>
                  <a:lnTo>
                    <a:pt x="444" y="31"/>
                  </a:lnTo>
                  <a:lnTo>
                    <a:pt x="431" y="0"/>
                  </a:lnTo>
                  <a:lnTo>
                    <a:pt x="514" y="42"/>
                  </a:lnTo>
                  <a:lnTo>
                    <a:pt x="431" y="84"/>
                  </a:lnTo>
                  <a:lnTo>
                    <a:pt x="444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71"/>
            <p:cNvSpPr>
              <a:spLocks noChangeArrowheads="1"/>
            </p:cNvSpPr>
            <p:nvPr/>
          </p:nvSpPr>
          <p:spPr bwMode="auto">
            <a:xfrm>
              <a:off x="1859" y="1961"/>
              <a:ext cx="92" cy="4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4200" b="0" dirty="0">
                  <a:solidFill>
                    <a:srgbClr val="000000"/>
                  </a:solidFill>
                  <a:latin typeface="Symbol" panose="05050102010706020507" pitchFamily="18" charset="2"/>
                </a:rPr>
                <a:t>ò</a:t>
              </a:r>
              <a:endParaRPr lang="en-US" b="0" dirty="0"/>
            </a:p>
          </p:txBody>
        </p:sp>
        <p:sp>
          <p:nvSpPr>
            <p:cNvPr id="47" name="Rectangle 72"/>
            <p:cNvSpPr>
              <a:spLocks noChangeArrowheads="1"/>
            </p:cNvSpPr>
            <p:nvPr/>
          </p:nvSpPr>
          <p:spPr bwMode="auto">
            <a:xfrm>
              <a:off x="940" y="1961"/>
              <a:ext cx="92" cy="4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4200" b="0">
                  <a:solidFill>
                    <a:srgbClr val="000000"/>
                  </a:solidFill>
                  <a:latin typeface="Symbol" panose="05050102010706020507" pitchFamily="18" charset="2"/>
                </a:rPr>
                <a:t>ò</a:t>
              </a:r>
              <a:endParaRPr lang="en-US" b="0"/>
            </a:p>
          </p:txBody>
        </p:sp>
        <p:sp>
          <p:nvSpPr>
            <p:cNvPr id="48" name="Rectangle 73"/>
            <p:cNvSpPr>
              <a:spLocks noChangeArrowheads="1"/>
            </p:cNvSpPr>
            <p:nvPr/>
          </p:nvSpPr>
          <p:spPr bwMode="auto">
            <a:xfrm>
              <a:off x="1529" y="2025"/>
              <a:ext cx="101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b="0"/>
            </a:p>
          </p:txBody>
        </p:sp>
        <p:sp>
          <p:nvSpPr>
            <p:cNvPr id="49" name="Rectangle 74"/>
            <p:cNvSpPr>
              <a:spLocks noChangeArrowheads="1"/>
            </p:cNvSpPr>
            <p:nvPr/>
          </p:nvSpPr>
          <p:spPr bwMode="auto">
            <a:xfrm>
              <a:off x="1386" y="2025"/>
              <a:ext cx="101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b="0"/>
            </a:p>
          </p:txBody>
        </p:sp>
        <p:sp>
          <p:nvSpPr>
            <p:cNvPr id="50" name="Rectangle 75"/>
            <p:cNvSpPr>
              <a:spLocks noChangeArrowheads="1"/>
            </p:cNvSpPr>
            <p:nvPr/>
          </p:nvSpPr>
          <p:spPr bwMode="auto">
            <a:xfrm>
              <a:off x="1865" y="234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b="0"/>
            </a:p>
          </p:txBody>
        </p:sp>
        <p:sp>
          <p:nvSpPr>
            <p:cNvPr id="51" name="Rectangle 76"/>
            <p:cNvSpPr>
              <a:spLocks noChangeArrowheads="1"/>
            </p:cNvSpPr>
            <p:nvPr/>
          </p:nvSpPr>
          <p:spPr bwMode="auto">
            <a:xfrm>
              <a:off x="938" y="2345"/>
              <a:ext cx="96" cy="17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b="0"/>
            </a:p>
          </p:txBody>
        </p:sp>
        <p:sp>
          <p:nvSpPr>
            <p:cNvPr id="52" name="Rectangle 77"/>
            <p:cNvSpPr>
              <a:spLocks noChangeArrowheads="1"/>
            </p:cNvSpPr>
            <p:nvPr/>
          </p:nvSpPr>
          <p:spPr bwMode="auto">
            <a:xfrm>
              <a:off x="2094" y="2045"/>
              <a:ext cx="194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dS</a:t>
              </a:r>
              <a:endParaRPr lang="en-US" b="0"/>
            </a:p>
          </p:txBody>
        </p:sp>
        <p:sp>
          <p:nvSpPr>
            <p:cNvPr id="53" name="Rectangle 78"/>
            <p:cNvSpPr>
              <a:spLocks noChangeArrowheads="1"/>
            </p:cNvSpPr>
            <p:nvPr/>
          </p:nvSpPr>
          <p:spPr bwMode="auto">
            <a:xfrm>
              <a:off x="1976" y="2045"/>
              <a:ext cx="123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b="0"/>
            </a:p>
          </p:txBody>
        </p:sp>
        <p:sp>
          <p:nvSpPr>
            <p:cNvPr id="54" name="Rectangle 79"/>
            <p:cNvSpPr>
              <a:spLocks noChangeArrowheads="1"/>
            </p:cNvSpPr>
            <p:nvPr/>
          </p:nvSpPr>
          <p:spPr bwMode="auto">
            <a:xfrm>
              <a:off x="1672" y="2186"/>
              <a:ext cx="143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dt</a:t>
              </a:r>
              <a:endParaRPr lang="en-US" b="0"/>
            </a:p>
          </p:txBody>
        </p:sp>
        <p:sp>
          <p:nvSpPr>
            <p:cNvPr id="55" name="Rectangle 80"/>
            <p:cNvSpPr>
              <a:spLocks noChangeArrowheads="1"/>
            </p:cNvSpPr>
            <p:nvPr/>
          </p:nvSpPr>
          <p:spPr bwMode="auto">
            <a:xfrm>
              <a:off x="1699" y="1931"/>
              <a:ext cx="92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b="0" dirty="0"/>
            </a:p>
          </p:txBody>
        </p:sp>
        <p:sp>
          <p:nvSpPr>
            <p:cNvPr id="56" name="Rectangle 81"/>
            <p:cNvSpPr>
              <a:spLocks noChangeArrowheads="1"/>
            </p:cNvSpPr>
            <p:nvPr/>
          </p:nvSpPr>
          <p:spPr bwMode="auto">
            <a:xfrm>
              <a:off x="1173" y="2045"/>
              <a:ext cx="143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dl</a:t>
              </a:r>
              <a:endParaRPr lang="en-US" b="0"/>
            </a:p>
          </p:txBody>
        </p:sp>
        <p:sp>
          <p:nvSpPr>
            <p:cNvPr id="57" name="Rectangle 82"/>
            <p:cNvSpPr>
              <a:spLocks noChangeArrowheads="1"/>
            </p:cNvSpPr>
            <p:nvPr/>
          </p:nvSpPr>
          <p:spPr bwMode="auto">
            <a:xfrm>
              <a:off x="1057" y="2045"/>
              <a:ext cx="112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b="0"/>
            </a:p>
          </p:txBody>
        </p:sp>
        <p:sp>
          <p:nvSpPr>
            <p:cNvPr id="58" name="Rectangle 83"/>
            <p:cNvSpPr>
              <a:spLocks noChangeArrowheads="1"/>
            </p:cNvSpPr>
            <p:nvPr/>
          </p:nvSpPr>
          <p:spPr bwMode="auto">
            <a:xfrm>
              <a:off x="1995" y="1918"/>
              <a:ext cx="75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>
                  <a:solidFill>
                    <a:srgbClr val="000000"/>
                  </a:solidFill>
                  <a:latin typeface="MT Extra" panose="05050102010205020202" pitchFamily="18" charset="2"/>
                </a:rPr>
                <a:t>r</a:t>
              </a:r>
              <a:endParaRPr lang="en-US" b="0"/>
            </a:p>
          </p:txBody>
        </p:sp>
        <p:sp>
          <p:nvSpPr>
            <p:cNvPr id="59" name="Rectangle 85"/>
            <p:cNvSpPr>
              <a:spLocks noChangeArrowheads="1"/>
            </p:cNvSpPr>
            <p:nvPr/>
          </p:nvSpPr>
          <p:spPr bwMode="auto">
            <a:xfrm>
              <a:off x="1075" y="1918"/>
              <a:ext cx="75" cy="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 b="0" dirty="0">
                  <a:solidFill>
                    <a:srgbClr val="000000"/>
                  </a:solidFill>
                  <a:latin typeface="MT Extra" panose="05050102010205020202" pitchFamily="18" charset="2"/>
                </a:rPr>
                <a:t>r</a:t>
              </a:r>
              <a:endParaRPr lang="en-US" b="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76200" y="820324"/>
            <a:ext cx="8153400" cy="206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>
              <a:spcBef>
                <a:spcPct val="45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0" dirty="0">
                <a:solidFill>
                  <a:srgbClr val="002060"/>
                </a:solidFill>
                <a:latin typeface="+mn-lt"/>
              </a:rPr>
              <a:t>       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Mật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độ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thông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lượng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điện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[</a:t>
            </a:r>
            <a:r>
              <a:rPr lang="en-US" sz="2400" b="0" dirty="0">
                <a:solidFill>
                  <a:srgbClr val="FF0000"/>
                </a:solidFill>
                <a:latin typeface="+mn-lt"/>
              </a:rPr>
              <a:t>C / </a:t>
            </a:r>
            <a:r>
              <a:rPr lang="en-US" sz="2400" b="0" dirty="0" smtClean="0">
                <a:solidFill>
                  <a:srgbClr val="FF0000"/>
                </a:solidFill>
                <a:latin typeface="+mn-lt"/>
              </a:rPr>
              <a:t>m</a:t>
            </a:r>
            <a:r>
              <a:rPr lang="en-US" sz="2400" b="0" baseline="30000" dirty="0" smtClean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]</a:t>
            </a:r>
            <a:endParaRPr lang="en-US" sz="2400" b="0" dirty="0">
              <a:solidFill>
                <a:srgbClr val="002060"/>
              </a:solidFill>
              <a:latin typeface="+mn-lt"/>
            </a:endParaRPr>
          </a:p>
          <a:p>
            <a:pPr algn="just" eaLnBrk="0" hangingPunct="0">
              <a:spcBef>
                <a:spcPct val="45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0" dirty="0">
                <a:solidFill>
                  <a:srgbClr val="002060"/>
                </a:solidFill>
                <a:latin typeface="+mn-lt"/>
              </a:rPr>
              <a:t>       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Mật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độ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thông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lượng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từ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[</a:t>
            </a:r>
            <a:r>
              <a:rPr lang="en-US" sz="2400" b="0" dirty="0">
                <a:solidFill>
                  <a:srgbClr val="FF0000"/>
                </a:solidFill>
                <a:latin typeface="+mn-lt"/>
              </a:rPr>
              <a:t>T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] 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[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Tesla] [Weber / m</a:t>
            </a:r>
            <a:r>
              <a:rPr lang="en-US" sz="2400" b="0" baseline="30000" dirty="0">
                <a:solidFill>
                  <a:srgbClr val="002060"/>
                </a:solidFill>
                <a:latin typeface="+mn-lt"/>
              </a:rPr>
              <a:t>2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 ]</a:t>
            </a:r>
            <a:endParaRPr lang="en-US" sz="2400" b="0" dirty="0">
              <a:solidFill>
                <a:srgbClr val="002060"/>
              </a:solidFill>
              <a:latin typeface="+mn-lt"/>
            </a:endParaRPr>
          </a:p>
          <a:p>
            <a:pPr algn="just" eaLnBrk="0" hangingPunct="0">
              <a:spcBef>
                <a:spcPct val="45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0" dirty="0">
                <a:solidFill>
                  <a:srgbClr val="002060"/>
                </a:solidFill>
                <a:latin typeface="+mn-lt"/>
              </a:rPr>
              <a:t>       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Mật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độ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dòng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điện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[</a:t>
            </a:r>
            <a:r>
              <a:rPr lang="en-US" sz="2400" b="0" dirty="0">
                <a:solidFill>
                  <a:srgbClr val="FF0000"/>
                </a:solidFill>
                <a:latin typeface="+mn-lt"/>
              </a:rPr>
              <a:t>A / m</a:t>
            </a:r>
            <a:r>
              <a:rPr lang="en-US" sz="2400" b="0" baseline="30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24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+mn-lt"/>
              </a:rPr>
              <a:t>]</a:t>
            </a:r>
            <a:endParaRPr lang="en-US" sz="2400" b="0" dirty="0">
              <a:solidFill>
                <a:srgbClr val="002060"/>
              </a:solidFill>
              <a:latin typeface="+mn-lt"/>
            </a:endParaRPr>
          </a:p>
          <a:p>
            <a:pPr algn="just" eaLnBrk="0" hangingPunct="0">
              <a:spcBef>
                <a:spcPct val="45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0" dirty="0">
                <a:solidFill>
                  <a:srgbClr val="002060"/>
                </a:solidFill>
                <a:latin typeface="+mn-lt"/>
              </a:rPr>
              <a:t>       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Mật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độ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điện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</a:rPr>
              <a:t>tích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 [</a:t>
            </a:r>
            <a:r>
              <a:rPr lang="en-US" sz="2400" b="0" dirty="0" smtClean="0">
                <a:solidFill>
                  <a:srgbClr val="FF0000"/>
                </a:solidFill>
                <a:latin typeface="+mn-lt"/>
              </a:rPr>
              <a:t>C </a:t>
            </a:r>
            <a:r>
              <a:rPr lang="en-US" sz="2400" b="0" dirty="0">
                <a:solidFill>
                  <a:srgbClr val="FF0000"/>
                </a:solidFill>
                <a:latin typeface="+mn-lt"/>
              </a:rPr>
              <a:t>/ </a:t>
            </a:r>
            <a:r>
              <a:rPr lang="en-US" sz="2400" b="0" dirty="0" smtClean="0">
                <a:solidFill>
                  <a:srgbClr val="FF0000"/>
                </a:solidFill>
                <a:latin typeface="+mn-lt"/>
              </a:rPr>
              <a:t>m</a:t>
            </a:r>
            <a:r>
              <a:rPr lang="en-US" sz="2400" b="0" baseline="30000" dirty="0" smtClean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</a:rPr>
              <a:t>]</a:t>
            </a:r>
            <a:endParaRPr lang="en-US" sz="2400" b="0" dirty="0">
              <a:solidFill>
                <a:srgbClr val="002060"/>
              </a:solidFill>
              <a:latin typeface="+mn-lt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68313" y="735342"/>
          <a:ext cx="3698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8" name="Equation" r:id="rId1" imgW="165100" imgH="203200" progId="Equation.DSMT4">
                  <p:embed/>
                </p:oleObj>
              </mc:Choice>
              <mc:Fallback>
                <p:oleObj name="Equation" r:id="rId1" imgW="165100" imgH="203200" progId="Equation.DSMT4">
                  <p:embed/>
                  <p:pic>
                    <p:nvPicPr>
                      <p:cNvPr id="0" name="Picture 104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735342"/>
                        <a:ext cx="3698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950" y="1284037"/>
            <a:ext cx="3841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2763" y="1878337"/>
            <a:ext cx="3302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1963" y="2339862"/>
            <a:ext cx="45243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461963" y="3676731"/>
            <a:ext cx="320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  <a:defRPr/>
            </a:pP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 E 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Điện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trường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(V/m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buFontTx/>
              <a:buChar char="•"/>
              <a:defRPr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H 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trường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 (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A/m)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88950" y="2901409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9" name="Equation" r:id="rId6" imgW="152400" imgH="177800" progId="Equation.DSMT4">
                  <p:embed/>
                </p:oleObj>
              </mc:Choice>
              <mc:Fallback>
                <p:oleObj name="Equation" r:id="rId6" imgW="152400" imgH="177800" progId="Equation.DSMT4">
                  <p:embed/>
                  <p:pic>
                    <p:nvPicPr>
                      <p:cNvPr id="0" name="Picture 104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901409"/>
                        <a:ext cx="38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89710" y="2876009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0" dirty="0" err="1" smtClean="0">
                <a:solidFill>
                  <a:srgbClr val="002060"/>
                </a:solidFill>
                <a:latin typeface="+mn-lt"/>
              </a:rPr>
              <a:t>Toán</a:t>
            </a:r>
            <a:r>
              <a:rPr lang="en-US" sz="2200" b="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200" b="0" dirty="0" err="1" smtClean="0">
                <a:solidFill>
                  <a:srgbClr val="002060"/>
                </a:solidFill>
                <a:latin typeface="+mn-lt"/>
              </a:rPr>
              <a:t>tử</a:t>
            </a:r>
            <a:r>
              <a:rPr lang="en-US" sz="2200" b="0" dirty="0" smtClean="0">
                <a:solidFill>
                  <a:srgbClr val="002060"/>
                </a:solidFill>
                <a:latin typeface="+mn-lt"/>
              </a:rPr>
              <a:t> Gradient , </a:t>
            </a:r>
            <a:r>
              <a:rPr lang="en-US" sz="2200" b="0" dirty="0" err="1" smtClean="0">
                <a:solidFill>
                  <a:srgbClr val="002060"/>
                </a:solidFill>
                <a:latin typeface="+mn-lt"/>
              </a:rPr>
              <a:t>Nabla</a:t>
            </a:r>
            <a:r>
              <a:rPr lang="en-US" sz="2200" b="0" dirty="0" smtClean="0">
                <a:solidFill>
                  <a:srgbClr val="002060"/>
                </a:solidFill>
                <a:latin typeface="+mn-lt"/>
              </a:rPr>
              <a:t>, Hamilton</a:t>
            </a:r>
            <a:endParaRPr lang="en-US" sz="2200" b="0" dirty="0">
              <a:solidFill>
                <a:srgbClr val="002060"/>
              </a:solidFill>
              <a:latin typeface="+mn-lt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55036" y="4800600"/>
          <a:ext cx="1369719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0" name="Equation" r:id="rId8" imgW="584200" imgH="228600" progId="Equation.3">
                  <p:embed/>
                </p:oleObj>
              </mc:Choice>
              <mc:Fallback>
                <p:oleObj name="Equation" r:id="rId8" imgW="584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36" y="4800600"/>
                        <a:ext cx="1369719" cy="5334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61963" y="5738813"/>
          <a:ext cx="1062037" cy="443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1" name="Equation" r:id="rId10" imgW="546100" imgH="228600" progId="Equation.3">
                  <p:embed/>
                </p:oleObj>
              </mc:Choice>
              <mc:Fallback>
                <p:oleObj name="Equation" r:id="rId10" imgW="5461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5738813"/>
                        <a:ext cx="1062037" cy="44357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827935" y="4724400"/>
          <a:ext cx="26955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2" name="Equation" r:id="rId12" imgW="1143000" imgH="241300" progId="Equation.3">
                  <p:embed/>
                </p:oleObj>
              </mc:Choice>
              <mc:Fallback>
                <p:oleObj name="Equation" r:id="rId12" imgW="1143000" imgH="241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935" y="4724400"/>
                        <a:ext cx="26955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600200" y="5638800"/>
          <a:ext cx="31115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3" name="Equation" r:id="rId14" imgW="1308100" imgH="241300" progId="Equation.3">
                  <p:embed/>
                </p:oleObj>
              </mc:Choice>
              <mc:Fallback>
                <p:oleObj name="Equation" r:id="rId14" imgW="1308100" imgH="241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638800"/>
                        <a:ext cx="31115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351128" y="2145080"/>
          <a:ext cx="1813299" cy="64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" name="Equation" r:id="rId16" imgW="748665" imgH="266700" progId="Equation.3">
                  <p:embed/>
                </p:oleObj>
              </mc:Choice>
              <mc:Fallback>
                <p:oleObj name="Equation" r:id="rId16" imgW="748665" imgH="266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128" y="2145080"/>
                        <a:ext cx="1813299" cy="64568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5334000" y="3085158"/>
          <a:ext cx="1330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Equation" r:id="rId18" imgW="533400" imgH="203200" progId="Equation.3">
                  <p:embed/>
                </p:oleObj>
              </mc:Choice>
              <mc:Fallback>
                <p:oleObj name="Equation" r:id="rId18" imgW="533400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085158"/>
                        <a:ext cx="1330325" cy="5048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7391400" y="2339862"/>
            <a:ext cx="1511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continuity law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010400" y="3245408"/>
            <a:ext cx="1037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Ohm law</a:t>
            </a:r>
            <a:endParaRPr lang="en-US" dirty="0"/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5394688" y="4180703"/>
          <a:ext cx="31559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6" name="Equation" r:id="rId20" imgW="1104900" imgH="228600" progId="Equation.DSMT4">
                  <p:embed/>
                </p:oleObj>
              </mc:Choice>
              <mc:Fallback>
                <p:oleObj name="Equation" r:id="rId20" imgW="11049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688" y="4180703"/>
                        <a:ext cx="31559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5420088" y="4903015"/>
          <a:ext cx="35179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Equation" r:id="rId22" imgW="1231265" imgH="228600" progId="Equation.DSMT4">
                  <p:embed/>
                </p:oleObj>
              </mc:Choice>
              <mc:Fallback>
                <p:oleObj name="Equation" r:id="rId22" imgW="1231265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0088" y="4903015"/>
                        <a:ext cx="35179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6102713" y="5501503"/>
          <a:ext cx="15255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Equation" r:id="rId24" imgW="596900" imgH="177800" progId="Equation.3">
                  <p:embed/>
                </p:oleObj>
              </mc:Choice>
              <mc:Fallback>
                <p:oleObj name="Equation" r:id="rId24" imgW="596900" imgH="177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713" y="5501503"/>
                        <a:ext cx="15255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6105888" y="5969815"/>
          <a:ext cx="15240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9" name="Equation" r:id="rId26" imgW="647700" imgH="266700" progId="Equation.3">
                  <p:embed/>
                </p:oleObj>
              </mc:Choice>
              <mc:Fallback>
                <p:oleObj name="Equation" r:id="rId26" imgW="647700" imgH="266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5888" y="5969815"/>
                        <a:ext cx="15240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>
          <a:xfrm>
            <a:off x="4488728" y="3637400"/>
            <a:ext cx="4649158" cy="5796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0" algn="just" defTabSz="360045">
              <a:lnSpc>
                <a:spcPts val="3800"/>
              </a:lnSpc>
              <a:spcBef>
                <a:spcPts val="1200"/>
              </a:spcBef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b="0" dirty="0" err="1" smtClean="0">
                <a:solidFill>
                  <a:srgbClr val="002060"/>
                </a:solidFill>
                <a:ea typeface="SimSun" panose="02010600030101010101" pitchFamily="2" charset="-122"/>
              </a:rPr>
              <a:t>P</a:t>
            </a:r>
            <a:r>
              <a:rPr lang="en-US" altLang="zh-CN" b="0" dirty="0" err="1" smtClean="0">
                <a:solidFill>
                  <a:srgbClr val="002060"/>
                </a:solidFill>
                <a:ea typeface="SimSun" panose="02010600030101010101" pitchFamily="2" charset="-122"/>
              </a:rPr>
              <a:t>hương</a:t>
            </a:r>
            <a:r>
              <a:rPr lang="en-US" altLang="zh-CN" b="0" dirty="0" smtClean="0">
                <a:solidFill>
                  <a:srgbClr val="002060"/>
                </a:solidFill>
                <a:ea typeface="SimSun" panose="02010600030101010101" pitchFamily="2" charset="-122"/>
              </a:rPr>
              <a:t> </a:t>
            </a:r>
            <a:r>
              <a:rPr lang="en-US" altLang="zh-CN" b="0" dirty="0" err="1" smtClean="0">
                <a:solidFill>
                  <a:srgbClr val="002060"/>
                </a:solidFill>
                <a:ea typeface="SimSun" panose="02010600030101010101" pitchFamily="2" charset="-122"/>
              </a:rPr>
              <a:t>trình</a:t>
            </a:r>
            <a:r>
              <a:rPr lang="en-US" altLang="zh-CN" b="0" dirty="0" smtClean="0">
                <a:solidFill>
                  <a:srgbClr val="002060"/>
                </a:solidFill>
                <a:ea typeface="SimSun" panose="02010600030101010101" pitchFamily="2" charset="-122"/>
              </a:rPr>
              <a:t> Maxwell </a:t>
            </a:r>
            <a:r>
              <a:rPr lang="en-US" altLang="zh-CN" b="0" dirty="0" err="1" smtClean="0">
                <a:solidFill>
                  <a:srgbClr val="002060"/>
                </a:solidFill>
                <a:ea typeface="SimSun" panose="02010600030101010101" pitchFamily="2" charset="-122"/>
              </a:rPr>
              <a:t>trong</a:t>
            </a:r>
            <a:r>
              <a:rPr lang="en-US" altLang="zh-CN" b="0" dirty="0" smtClean="0">
                <a:solidFill>
                  <a:srgbClr val="002060"/>
                </a:solidFill>
                <a:ea typeface="SimSun" panose="02010600030101010101" pitchFamily="2" charset="-122"/>
              </a:rPr>
              <a:t> </a:t>
            </a:r>
            <a:r>
              <a:rPr lang="en-US" altLang="zh-CN" b="0" dirty="0" err="1" smtClean="0">
                <a:solidFill>
                  <a:srgbClr val="002060"/>
                </a:solidFill>
                <a:ea typeface="SimSun" panose="02010600030101010101" pitchFamily="2" charset="-122"/>
              </a:rPr>
              <a:t>không</a:t>
            </a:r>
            <a:r>
              <a:rPr lang="en-US" altLang="zh-CN" b="0" dirty="0" smtClean="0">
                <a:solidFill>
                  <a:srgbClr val="002060"/>
                </a:solidFill>
                <a:ea typeface="SimSun" panose="02010600030101010101" pitchFamily="2" charset="-122"/>
              </a:rPr>
              <a:t> </a:t>
            </a:r>
            <a:r>
              <a:rPr lang="en-US" altLang="zh-CN" b="0" dirty="0" err="1" smtClean="0">
                <a:solidFill>
                  <a:srgbClr val="002060"/>
                </a:solidFill>
                <a:ea typeface="SimSun" panose="02010600030101010101" pitchFamily="2" charset="-122"/>
              </a:rPr>
              <a:t>gian</a:t>
            </a:r>
            <a:r>
              <a:rPr lang="en-US" altLang="zh-CN" b="0" dirty="0" smtClean="0">
                <a:solidFill>
                  <a:srgbClr val="002060"/>
                </a:solidFill>
                <a:ea typeface="SimSun" panose="02010600030101010101" pitchFamily="2" charset="-122"/>
              </a:rPr>
              <a:t> </a:t>
            </a:r>
            <a:r>
              <a:rPr lang="en-US" altLang="zh-CN" b="0" dirty="0" err="1" smtClean="0">
                <a:solidFill>
                  <a:srgbClr val="002060"/>
                </a:solidFill>
                <a:ea typeface="SimSun" panose="02010600030101010101" pitchFamily="2" charset="-122"/>
              </a:rPr>
              <a:t>tự</a:t>
            </a:r>
            <a:r>
              <a:rPr lang="en-US" altLang="zh-CN" b="0" dirty="0" smtClean="0">
                <a:solidFill>
                  <a:srgbClr val="002060"/>
                </a:solidFill>
                <a:ea typeface="SimSun" panose="02010600030101010101" pitchFamily="2" charset="-122"/>
              </a:rPr>
              <a:t> do:</a:t>
            </a:r>
            <a:endParaRPr lang="en-US" altLang="zh-CN" b="0" dirty="0" smtClean="0">
              <a:solidFill>
                <a:srgbClr val="002060"/>
              </a:solidFill>
              <a:ea typeface="SimSun" panose="02010600030101010101" pitchFamily="2" charset="-122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304800" y="152399"/>
            <a:ext cx="8229600" cy="73429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CHƯƠNG 3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8"/>
          <p:cNvGraphicFramePr>
            <a:graphicFrameLocks noChangeAspect="1"/>
          </p:cNvGraphicFramePr>
          <p:nvPr/>
        </p:nvGraphicFramePr>
        <p:xfrm>
          <a:off x="533400" y="2874822"/>
          <a:ext cx="2971800" cy="556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Equation" r:id="rId1" imgW="1422400" imgH="266700" progId="Equation.3">
                  <p:embed/>
                </p:oleObj>
              </mc:Choice>
              <mc:Fallback>
                <p:oleObj name="Equation" r:id="rId1" imgW="1422400" imgH="266700" progId="Equation.3">
                  <p:embed/>
                  <p:pic>
                    <p:nvPicPr>
                      <p:cNvPr id="0" name="Picture 12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74822"/>
                        <a:ext cx="2971800" cy="556136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3"/>
          <p:cNvGraphicFramePr>
            <a:graphicFrameLocks noChangeAspect="1"/>
          </p:cNvGraphicFramePr>
          <p:nvPr/>
        </p:nvGraphicFramePr>
        <p:xfrm>
          <a:off x="457200" y="1921983"/>
          <a:ext cx="2438401" cy="477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Equation" r:id="rId3" imgW="1473200" imgH="241300" progId="Equation.3">
                  <p:embed/>
                </p:oleObj>
              </mc:Choice>
              <mc:Fallback>
                <p:oleObj name="Equation" r:id="rId3" imgW="1473200" imgH="241300" progId="Equation.3">
                  <p:embed/>
                  <p:pic>
                    <p:nvPicPr>
                      <p:cNvPr id="0" name="Picture 12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21983"/>
                        <a:ext cx="2438401" cy="477521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0" y="892465"/>
            <a:ext cx="91440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b="0" dirty="0" err="1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Từ</a:t>
            </a:r>
            <a:r>
              <a:rPr lang="en-US" altLang="zh-CN" sz="2400" b="0" dirty="0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pt Maxwell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ta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đã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chứng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minh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được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sự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tồn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tại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của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A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và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l-GR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400" b="0" dirty="0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0" dirty="0" smtClean="0">
              <a:solidFill>
                <a:srgbClr val="002060"/>
              </a:solidFill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b="0" dirty="0" err="1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Vectơ</a:t>
            </a:r>
            <a:r>
              <a:rPr lang="en-US" altLang="zh-CN" sz="2400" b="0" dirty="0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từ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 err="1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thế</a:t>
            </a:r>
            <a:r>
              <a:rPr lang="en-US" altLang="zh-CN" sz="2400" b="0" dirty="0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C00000"/>
                </a:solidFill>
                <a:latin typeface="+mn-lt"/>
                <a:ea typeface="SimSun" panose="02010600030101010101" pitchFamily="2" charset="-122"/>
              </a:rPr>
              <a:t>A</a:t>
            </a:r>
            <a:r>
              <a:rPr lang="en-US" altLang="zh-CN" sz="2400" b="0" dirty="0" smtClean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được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cho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en-US" altLang="zh-CN" sz="2400" b="0" dirty="0" err="1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bởi</a:t>
            </a:r>
            <a:r>
              <a:rPr lang="en-US" altLang="zh-CN" sz="2400" b="0" dirty="0">
                <a:solidFill>
                  <a:srgbClr val="002060"/>
                </a:solidFill>
                <a:latin typeface="+mn-lt"/>
                <a:ea typeface="SimSun" panose="02010600030101010101" pitchFamily="2" charset="-122"/>
              </a:rPr>
              <a:t>:</a:t>
            </a:r>
            <a:endParaRPr lang="en-US" altLang="zh-CN" sz="2400" b="0" dirty="0">
              <a:solidFill>
                <a:srgbClr val="002060"/>
              </a:solidFill>
              <a:latin typeface="+mn-lt"/>
              <a:ea typeface="SimSun" panose="02010600030101010101" pitchFamily="2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0" y="2300287"/>
            <a:ext cx="91440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Thế</a:t>
            </a:r>
            <a:r>
              <a:rPr lang="en-US" altLang="zh-CN" sz="2800" b="0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 err="1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vô</a:t>
            </a:r>
            <a:r>
              <a:rPr lang="en-US" altLang="zh-CN" sz="2800" b="0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 err="1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hướng</a:t>
            </a:r>
            <a:r>
              <a:rPr lang="en-US" altLang="zh-CN" sz="2800" b="0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 err="1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điện</a:t>
            </a:r>
            <a:r>
              <a:rPr lang="en-US" altLang="zh-CN" sz="2800" b="0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l-GR" altLang="zh-CN" sz="2800" dirty="0" smtClean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800" b="0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 err="1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được</a:t>
            </a:r>
            <a:r>
              <a:rPr lang="en-US" altLang="zh-CN" sz="2800" b="0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 err="1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cho</a:t>
            </a:r>
            <a:r>
              <a:rPr lang="en-US" altLang="zh-CN" sz="2800" b="0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 err="1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bởi</a:t>
            </a:r>
            <a:r>
              <a:rPr lang="en-US" altLang="zh-CN" sz="2800" b="0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altLang="zh-CN" sz="2800" b="0" dirty="0">
              <a:solidFill>
                <a:srgbClr val="00206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52400" y="3425755"/>
            <a:ext cx="8610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algn="just">
              <a:spcBef>
                <a:spcPct val="50000"/>
              </a:spcBef>
            </a:pPr>
            <a:r>
              <a:rPr lang="en-US" altLang="zh-CN" sz="2800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Khi</a:t>
            </a:r>
            <a:r>
              <a:rPr lang="en-US" altLang="zh-CN" sz="2800" dirty="0" smtClean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và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l-GR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được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xác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định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ta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có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altLang="zh-CN" sz="2800" dirty="0">
              <a:solidFill>
                <a:srgbClr val="3333FF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33400" y="4038600"/>
          <a:ext cx="29591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Equation" r:id="rId5" imgW="1066165" imgH="203200" progId="Equation.3">
                  <p:embed/>
                </p:oleObj>
              </mc:Choice>
              <mc:Fallback>
                <p:oleObj name="Equation" r:id="rId5" imgW="1066165" imgH="203200" progId="Equation.3">
                  <p:embed/>
                  <p:pic>
                    <p:nvPicPr>
                      <p:cNvPr id="0" name="Picture 123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038600"/>
                        <a:ext cx="2959100" cy="5635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886200" y="3972577"/>
          <a:ext cx="203993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7" name="Equation" r:id="rId7" imgW="812165" imgH="254000" progId="Equation.3">
                  <p:embed/>
                </p:oleObj>
              </mc:Choice>
              <mc:Fallback>
                <p:oleObj name="Equation" r:id="rId7" imgW="812165" imgH="254000" progId="Equation.3">
                  <p:embed/>
                  <p:pic>
                    <p:nvPicPr>
                      <p:cNvPr id="0" name="Picture 123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972577"/>
                        <a:ext cx="2039938" cy="6381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21673" y="4692650"/>
            <a:ext cx="86106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zh-CN" sz="2800" dirty="0" smtClean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Vector A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có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đơn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vị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của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dòng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điện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(Ampere)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và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 Scalar (</a:t>
            </a:r>
            <a:r>
              <a:rPr lang="el-GR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có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đơn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vị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điện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thế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(volts).</a:t>
            </a:r>
            <a:endParaRPr lang="en-US" altLang="zh-CN" sz="2800" dirty="0">
              <a:solidFill>
                <a:srgbClr val="3333FF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04800" y="152399"/>
            <a:ext cx="8229600" cy="73429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CHƯƠNG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5668879"/>
            <a:ext cx="3130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Bef>
                <a:spcPct val="50000"/>
              </a:spcBef>
            </a:pPr>
            <a:r>
              <a:rPr lang="en-US" altLang="zh-CN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Sử</a:t>
            </a:r>
            <a:r>
              <a:rPr lang="en-US" altLang="zh-CN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dụng</a:t>
            </a:r>
            <a:r>
              <a:rPr lang="en-US" altLang="zh-CN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điều</a:t>
            </a:r>
            <a:r>
              <a:rPr lang="en-US" altLang="zh-CN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kiện</a:t>
            </a:r>
            <a:r>
              <a:rPr lang="en-US" altLang="zh-CN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lorentz</a:t>
            </a:r>
            <a:r>
              <a:rPr lang="en-US" altLang="zh-CN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ta </a:t>
            </a:r>
            <a:r>
              <a:rPr lang="en-US" altLang="zh-CN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có</a:t>
            </a:r>
            <a:r>
              <a:rPr lang="en-US" altLang="zh-CN" dirty="0" smtClean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4191000" y="5574915"/>
          <a:ext cx="2438400" cy="463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Equation" r:id="rId9" imgW="1206500" imgH="228600" progId="Equation.3">
                  <p:embed/>
                </p:oleObj>
              </mc:Choice>
              <mc:Fallback>
                <p:oleObj name="Equation" r:id="rId9" imgW="12065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574915"/>
                        <a:ext cx="2438400" cy="463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52400" y="6038211"/>
          <a:ext cx="49895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9" name="Equation" r:id="rId11" imgW="1675765" imgH="266700" progId="Equation.3">
                  <p:embed/>
                </p:oleObj>
              </mc:Choice>
              <mc:Fallback>
                <p:oleObj name="Equation" r:id="rId11" imgW="1675765" imgH="266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038211"/>
                        <a:ext cx="4989513" cy="7937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638800" y="6052066"/>
          <a:ext cx="22304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" name="Equation" r:id="rId13" imgW="812165" imgH="254000" progId="Equation.3">
                  <p:embed/>
                </p:oleObj>
              </mc:Choice>
              <mc:Fallback>
                <p:oleObj name="Equation" r:id="rId13" imgW="812165" imgH="254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6052066"/>
                        <a:ext cx="2230438" cy="6985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4800" y="152399"/>
            <a:ext cx="8229600" cy="73429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CHƯƠNG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564" y="1248535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u="sng" dirty="0" err="1" smtClean="0">
                <a:solidFill>
                  <a:srgbClr val="002060"/>
                </a:solidFill>
                <a:latin typeface="+mn-lt"/>
              </a:rPr>
              <a:t>Miền</a:t>
            </a:r>
            <a:r>
              <a:rPr lang="en-US" sz="2800" b="0" u="sng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0" u="sng" dirty="0" err="1" smtClean="0">
                <a:solidFill>
                  <a:srgbClr val="002060"/>
                </a:solidFill>
                <a:latin typeface="+mn-lt"/>
              </a:rPr>
              <a:t>thời</a:t>
            </a:r>
            <a:r>
              <a:rPr lang="en-US" sz="2800" b="0" u="sng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0" u="sng" dirty="0" err="1" smtClean="0">
                <a:solidFill>
                  <a:srgbClr val="002060"/>
                </a:solidFill>
                <a:latin typeface="+mn-lt"/>
              </a:rPr>
              <a:t>gian</a:t>
            </a:r>
            <a:endParaRPr lang="en-US" sz="2800" b="0" u="sng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0" y="1510145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u="sng" dirty="0" err="1" smtClean="0">
                <a:solidFill>
                  <a:srgbClr val="002060"/>
                </a:solidFill>
                <a:latin typeface="+mn-lt"/>
              </a:rPr>
              <a:t>Miền</a:t>
            </a:r>
            <a:r>
              <a:rPr lang="en-US" sz="2800" b="0" u="sng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0" u="sng" dirty="0" err="1" smtClean="0">
                <a:solidFill>
                  <a:srgbClr val="002060"/>
                </a:solidFill>
                <a:latin typeface="+mn-lt"/>
              </a:rPr>
              <a:t>tần</a:t>
            </a:r>
            <a:r>
              <a:rPr lang="en-US" sz="2800" b="0" u="sng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0" u="sng" dirty="0" err="1" smtClean="0">
                <a:solidFill>
                  <a:srgbClr val="002060"/>
                </a:solidFill>
                <a:latin typeface="+mn-lt"/>
              </a:rPr>
              <a:t>số</a:t>
            </a:r>
            <a:endParaRPr lang="en-US" sz="2800" b="0" u="sng" dirty="0">
              <a:solidFill>
                <a:srgbClr val="002060"/>
              </a:solidFill>
              <a:latin typeface="+mn-lt"/>
            </a:endParaRPr>
          </a:p>
        </p:txBody>
      </p:sp>
      <p:graphicFrame>
        <p:nvGraphicFramePr>
          <p:cNvPr id="7" name="Object 18"/>
          <p:cNvGraphicFramePr>
            <a:graphicFrameLocks noChangeAspect="1"/>
          </p:cNvGraphicFramePr>
          <p:nvPr/>
        </p:nvGraphicFramePr>
        <p:xfrm>
          <a:off x="5239447" y="3095508"/>
          <a:ext cx="3828353" cy="716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Equation" r:id="rId1" imgW="1422400" imgH="266700" progId="Equation.3">
                  <p:embed/>
                </p:oleObj>
              </mc:Choice>
              <mc:Fallback>
                <p:oleObj name="Equation" r:id="rId1" imgW="1422400" imgH="266700" progId="Equation.3">
                  <p:embed/>
                  <p:pic>
                    <p:nvPicPr>
                      <p:cNvPr id="0" name="Picture 13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447" y="3095508"/>
                        <a:ext cx="3828353" cy="716171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3"/>
          <p:cNvGraphicFramePr>
            <a:graphicFrameLocks noChangeAspect="1"/>
          </p:cNvGraphicFramePr>
          <p:nvPr/>
        </p:nvGraphicFramePr>
        <p:xfrm>
          <a:off x="5181600" y="2033365"/>
          <a:ext cx="3535362" cy="692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Equation" r:id="rId3" imgW="1473200" imgH="241300" progId="Equation.3">
                  <p:embed/>
                </p:oleObj>
              </mc:Choice>
              <mc:Fallback>
                <p:oleObj name="Equation" r:id="rId3" imgW="1473200" imgH="241300" progId="Equation.3">
                  <p:embed/>
                  <p:pic>
                    <p:nvPicPr>
                      <p:cNvPr id="0" name="Picture 13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033365"/>
                        <a:ext cx="3535362" cy="69247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3909" y="3095508"/>
            <a:ext cx="4628797" cy="87480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3909" y="2033365"/>
            <a:ext cx="4635445" cy="810000"/>
          </a:xfrm>
          <a:prstGeom prst="rect">
            <a:avLst/>
          </a:prstGeom>
          <a:noFill/>
          <a:ln w="31750">
            <a:solidFill>
              <a:srgbClr val="FF66FF"/>
            </a:solidFill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5418" y="773015"/>
            <a:ext cx="9067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Vector </a:t>
            </a:r>
            <a:r>
              <a:rPr lang="en-US" altLang="en-US" sz="2400" b="1" dirty="0" err="1" smtClean="0">
                <a:solidFill>
                  <a:srgbClr val="00B050"/>
                </a:solidFill>
                <a:cs typeface="Times New Roman" panose="02020603050405020304" pitchFamily="18" charset="0"/>
              </a:rPr>
              <a:t>từ</a:t>
            </a:r>
            <a:r>
              <a:rPr lang="en-US" altLang="en-US" sz="2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0B050"/>
                </a:solidFill>
                <a:cs typeface="Times New Roman" panose="02020603050405020304" pitchFamily="18" charset="0"/>
              </a:rPr>
              <a:t>thế</a:t>
            </a:r>
            <a:r>
              <a:rPr lang="en-US" altLang="en-US" sz="2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(Vector potential wave equation</a:t>
            </a:r>
            <a:r>
              <a:rPr lang="en-US" altLang="en-US" sz="2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b="1" dirty="0" err="1" smtClean="0">
                <a:solidFill>
                  <a:srgbClr val="00B050"/>
                </a:solidFill>
                <a:cs typeface="Times New Roman" panose="02020603050405020304" pitchFamily="18" charset="0"/>
              </a:rPr>
              <a:t>Va</a:t>
            </a:r>
            <a:r>
              <a:rPr lang="en-US" altLang="en-US" sz="2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̀ </a:t>
            </a:r>
            <a:r>
              <a:rPr lang="en-US" altLang="en-US" sz="2400" b="1" dirty="0" err="1" smtClean="0">
                <a:solidFill>
                  <a:srgbClr val="00B050"/>
                </a:solidFill>
                <a:cs typeface="Times New Roman" panose="02020603050405020304" pitchFamily="18" charset="0"/>
              </a:rPr>
              <a:t>thê</a:t>
            </a:r>
            <a:r>
              <a:rPr lang="en-US" altLang="en-US" sz="2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́ </a:t>
            </a:r>
            <a:r>
              <a:rPr lang="en-US" altLang="en-US" sz="2400" b="1" dirty="0" err="1" smtClean="0">
                <a:solidFill>
                  <a:srgbClr val="00B050"/>
                </a:solidFill>
                <a:cs typeface="Times New Roman" panose="02020603050405020304" pitchFamily="18" charset="0"/>
              </a:rPr>
              <a:t>vô</a:t>
            </a:r>
            <a:r>
              <a:rPr lang="en-US" altLang="en-US" sz="2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0B050"/>
                </a:solidFill>
                <a:cs typeface="Times New Roman" panose="02020603050405020304" pitchFamily="18" charset="0"/>
              </a:rPr>
              <a:t>hướng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5239" y="4050723"/>
            <a:ext cx="54373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Trong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tĩnh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điện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học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,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phương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trình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Poisson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có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dạng</a:t>
            </a:r>
            <a:endParaRPr lang="en-US" b="1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0109" y="4420055"/>
            <a:ext cx="1772833" cy="684958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00725" y="3950446"/>
            <a:ext cx="2581275" cy="2078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43804" y="4420055"/>
            <a:ext cx="2495550" cy="654173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  <p:sp>
        <p:nvSpPr>
          <p:cNvPr id="16" name="Rectangle 15"/>
          <p:cNvSpPr/>
          <p:nvPr/>
        </p:nvSpPr>
        <p:spPr>
          <a:xfrm>
            <a:off x="90054" y="5121973"/>
            <a:ext cx="54373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Trong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phương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trình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sóng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thê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́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vô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hướng</a:t>
            </a:r>
            <a:r>
              <a:rPr lang="en-US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có </a:t>
            </a:r>
            <a:r>
              <a:rPr lang="en-US" b="1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dạng</a:t>
            </a:r>
            <a:endParaRPr lang="en-US" b="1" dirty="0"/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59107" y="5521956"/>
            <a:ext cx="3387669" cy="688805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869025" y="6079636"/>
            <a:ext cx="3387145" cy="702373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485900"/>
            <a:ext cx="81534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cs typeface="Times New Roman" panose="02020603050405020304" pitchFamily="18" charset="0"/>
              </a:rPr>
              <a:t>tĩnh</a:t>
            </a:r>
            <a:r>
              <a:rPr lang="en-US" sz="2400" b="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học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phương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vector Poisson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có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dạng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:</a:t>
            </a:r>
            <a:endParaRPr lang="en-US" sz="2400" b="0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62345" y="2581275"/>
            <a:ext cx="6553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Nghiệm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phương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sz="2400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vector Poisson:</a:t>
            </a:r>
            <a:endParaRPr lang="en-US" sz="2400" b="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" y="900545"/>
            <a:ext cx="9067800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600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600" dirty="0" err="1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Phương</a:t>
            </a:r>
            <a:r>
              <a:rPr lang="en-US" altLang="en-US" sz="2600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600" dirty="0" err="1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altLang="en-US" sz="2600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600" dirty="0" err="1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sóng</a:t>
            </a:r>
            <a:r>
              <a:rPr lang="en-US" altLang="en-US" sz="2600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600" dirty="0" err="1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altLang="en-US" sz="2600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vector (A) (</a:t>
            </a:r>
            <a:r>
              <a:rPr lang="en-US" altLang="en-US" sz="2600" dirty="0" err="1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Magnetostatics</a:t>
            </a:r>
            <a:r>
              <a:rPr lang="en-US" altLang="en-US" sz="2600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)</a:t>
            </a:r>
            <a:endParaRPr lang="en-US" sz="2600" dirty="0">
              <a:solidFill>
                <a:srgbClr val="00B050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" y="1990725"/>
            <a:ext cx="2847975" cy="590550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29722"/>
            <a:ext cx="2985655" cy="860943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1150" y="2209800"/>
            <a:ext cx="375285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5082" y="4280503"/>
            <a:ext cx="5122718" cy="915400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135082" y="3890665"/>
            <a:ext cx="3264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Phương</a:t>
            </a:r>
            <a:r>
              <a:rPr lang="en-US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sóng</a:t>
            </a:r>
            <a:r>
              <a:rPr lang="en-US" b="0" dirty="0" smtClean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b="0" u="sng" dirty="0" err="1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b="0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b="0" u="sng" dirty="0" err="1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thế</a:t>
            </a:r>
            <a:r>
              <a:rPr lang="en-US" b="0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vector</a:t>
            </a:r>
            <a:r>
              <a:rPr lang="en-US" b="0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5082" y="5467350"/>
            <a:ext cx="5457825" cy="1057275"/>
          </a:xfrm>
          <a:prstGeom prst="rect">
            <a:avLst/>
          </a:prstGeom>
          <a:noFill/>
          <a:ln w="28575">
            <a:solidFill>
              <a:srgbClr val="FF33CC"/>
            </a:solidFill>
            <a:miter lim="800000"/>
            <a:headEnd/>
            <a:tailEnd/>
          </a:ln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04800" y="152399"/>
            <a:ext cx="8229600" cy="73429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CHƯƠNG 3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4800" y="152399"/>
            <a:ext cx="8229600" cy="73429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CHƯƠNG 3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5" name="Group 3"/>
          <p:cNvGrpSpPr/>
          <p:nvPr/>
        </p:nvGrpSpPr>
        <p:grpSpPr bwMode="auto">
          <a:xfrm>
            <a:off x="5715000" y="873125"/>
            <a:ext cx="3124200" cy="2660650"/>
            <a:chOff x="3696" y="1296"/>
            <a:chExt cx="1968" cy="1676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V="1">
              <a:off x="4414" y="1392"/>
              <a:ext cx="2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H="1">
              <a:off x="3696" y="2344"/>
              <a:ext cx="718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4414" y="2344"/>
              <a:ext cx="11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3696" y="2758"/>
            <a:ext cx="25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7" name="Equation" r:id="rId1" imgW="127000" imgH="139700" progId="Equation.3">
                    <p:embed/>
                  </p:oleObj>
                </mc:Choice>
                <mc:Fallback>
                  <p:oleObj name="Equation" r:id="rId1" imgW="127000" imgH="139700" progId="Equation.3">
                    <p:embed/>
                    <p:pic>
                      <p:nvPicPr>
                        <p:cNvPr id="0" name="Picture 144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758"/>
                          <a:ext cx="25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5442" y="2365"/>
            <a:ext cx="22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8" name="Equation" r:id="rId3" imgW="139700" imgH="165100" progId="Equation.3">
                    <p:embed/>
                  </p:oleObj>
                </mc:Choice>
                <mc:Fallback>
                  <p:oleObj name="Equation" r:id="rId3" imgW="139700" imgH="165100" progId="Equation.3">
                    <p:embed/>
                    <p:pic>
                      <p:nvPicPr>
                        <p:cNvPr id="0" name="Picture 144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2" y="2365"/>
                          <a:ext cx="222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/>
            <p:cNvGraphicFramePr>
              <a:graphicFrameLocks noChangeAspect="1"/>
            </p:cNvGraphicFramePr>
            <p:nvPr/>
          </p:nvGraphicFramePr>
          <p:xfrm>
            <a:off x="4224" y="1296"/>
            <a:ext cx="202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9" name="Equation" r:id="rId5" imgW="127000" imgH="127000" progId="Equation.3">
                    <p:embed/>
                  </p:oleObj>
                </mc:Choice>
                <mc:Fallback>
                  <p:oleObj name="Equation" r:id="rId5" imgW="127000" imgH="127000" progId="Equation.3">
                    <p:embed/>
                    <p:pic>
                      <p:nvPicPr>
                        <p:cNvPr id="0" name="Picture 144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296"/>
                          <a:ext cx="202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4416" y="230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V="1">
              <a:off x="4416" y="2160"/>
              <a:ext cx="0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443345" y="970746"/>
            <a:ext cx="6172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b="1" dirty="0" err="1" smtClean="0">
                <a:solidFill>
                  <a:srgbClr val="0066FF"/>
                </a:solidFill>
                <a:latin typeface="Times New Roman" panose="02020603050405020304" pitchFamily="18" charset="0"/>
              </a:rPr>
              <a:t>Xét</a:t>
            </a:r>
            <a:r>
              <a:rPr lang="en-US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Point 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Source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tạo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thành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dòng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J</a:t>
            </a:r>
            <a:r>
              <a:rPr lang="en-US" sz="2000" b="1" baseline="-25000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z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trên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trục</a:t>
            </a:r>
            <a:r>
              <a:rPr lang="en-US" sz="20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z</a:t>
            </a:r>
            <a:endParaRPr lang="en-US" sz="1400" dirty="0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43345" y="1528762"/>
          <a:ext cx="50498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Equation" r:id="rId7" imgW="54864000" imgH="5486400" progId="Equation.DSMT4">
                  <p:embed/>
                </p:oleObj>
              </mc:Choice>
              <mc:Fallback>
                <p:oleObj name="Equation" r:id="rId7" imgW="548640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45" y="1528762"/>
                        <a:ext cx="50498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609600" y="2197213"/>
          <a:ext cx="3124200" cy="552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Equation" r:id="rId9" imgW="1536700" imgH="279400" progId="Equation.DSMT4">
                  <p:embed/>
                </p:oleObj>
              </mc:Choice>
              <mc:Fallback>
                <p:oleObj name="Equation" r:id="rId9" imgW="15367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197213"/>
                        <a:ext cx="3124200" cy="552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443345" y="2743200"/>
            <a:ext cx="61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66FF"/>
                </a:solidFill>
                <a:latin typeface="Times New Roman" panose="02020603050405020304" pitchFamily="18" charset="0"/>
              </a:rPr>
              <a:t>The field produced by a unit point current is known as a Green function. This result will be used for all other sources.</a:t>
            </a:r>
            <a:endParaRPr lang="en-US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1669" y="3456433"/>
            <a:ext cx="3935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66FF"/>
                </a:solidFill>
                <a:latin typeface="Times New Roman" panose="02020603050405020304" pitchFamily="18" charset="0"/>
              </a:rPr>
              <a:t>(1) 	N points closed to the origin:</a:t>
            </a:r>
            <a:endParaRPr lang="en-US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668068" y="3872345"/>
          <a:ext cx="3276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2" name="Equation" r:id="rId11" imgW="1371600" imgH="431800" progId="Equation.3">
                  <p:embed/>
                </p:oleObj>
              </mc:Choice>
              <mc:Fallback>
                <p:oleObj name="Equation" r:id="rId11" imgW="13716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68" y="3872345"/>
                        <a:ext cx="3276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/>
          <p:nvPr/>
        </p:nvSpPr>
        <p:spPr>
          <a:xfrm>
            <a:off x="601669" y="4800600"/>
            <a:ext cx="44989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66FF"/>
                </a:solidFill>
                <a:latin typeface="Times New Roman" panose="02020603050405020304" pitchFamily="18" charset="0"/>
              </a:rPr>
              <a:t>(2) 	Line source p(z) = I(z)</a:t>
            </a:r>
            <a:r>
              <a:rPr lang="en-US" b="1" dirty="0" err="1" smtClean="0">
                <a:solidFill>
                  <a:srgbClr val="0066FF"/>
                </a:solidFill>
                <a:latin typeface="Times New Roman" panose="02020603050405020304" pitchFamily="18" charset="0"/>
              </a:rPr>
              <a:t>dz</a:t>
            </a:r>
            <a:r>
              <a:rPr lang="en-US" b="1" dirty="0" smtClean="0">
                <a:solidFill>
                  <a:srgbClr val="0066FF"/>
                </a:solidFill>
                <a:latin typeface="Times New Roman" panose="02020603050405020304" pitchFamily="18" charset="0"/>
              </a:rPr>
              <a:t> on z axis:</a:t>
            </a:r>
            <a:endParaRPr lang="en-US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5100658" y="4582041"/>
          <a:ext cx="40655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name="Equation" r:id="rId13" imgW="1701800" imgH="381000" progId="Equation.3">
                  <p:embed/>
                </p:oleObj>
              </mc:Choice>
              <mc:Fallback>
                <p:oleObj name="Equation" r:id="rId13" imgW="1701800" imgH="38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658" y="4582041"/>
                        <a:ext cx="406558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681923" y="5334000"/>
            <a:ext cx="2809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66FF"/>
                </a:solidFill>
                <a:latin typeface="Times New Roman" panose="02020603050405020304" pitchFamily="18" charset="0"/>
              </a:rPr>
              <a:t>(3) 	A volume source:</a:t>
            </a:r>
            <a:endParaRPr lang="en-US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747667" y="5943600"/>
          <a:ext cx="51292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Equation" r:id="rId15" imgW="2146300" imgH="292100" progId="Equation.DSMT4">
                  <p:embed/>
                </p:oleObj>
              </mc:Choice>
              <mc:Fallback>
                <p:oleObj name="Equation" r:id="rId15" imgW="2146300" imgH="292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667" y="5943600"/>
                        <a:ext cx="51292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/>
          <p:nvPr/>
        </p:nvGrpSpPr>
        <p:grpSpPr bwMode="auto">
          <a:xfrm>
            <a:off x="5905500" y="692150"/>
            <a:ext cx="3124200" cy="2813050"/>
            <a:chOff x="3504" y="1584"/>
            <a:chExt cx="1968" cy="1772"/>
          </a:xfrm>
        </p:grpSpPr>
        <p:grpSp>
          <p:nvGrpSpPr>
            <p:cNvPr id="5" name="Group 7"/>
            <p:cNvGrpSpPr/>
            <p:nvPr/>
          </p:nvGrpSpPr>
          <p:grpSpPr bwMode="auto">
            <a:xfrm>
              <a:off x="3504" y="1584"/>
              <a:ext cx="1968" cy="1772"/>
              <a:chOff x="3504" y="1584"/>
              <a:chExt cx="1968" cy="1772"/>
            </a:xfrm>
          </p:grpSpPr>
          <p:grpSp>
            <p:nvGrpSpPr>
              <p:cNvPr id="11" name="Group 8"/>
              <p:cNvGrpSpPr/>
              <p:nvPr/>
            </p:nvGrpSpPr>
            <p:grpSpPr bwMode="auto">
              <a:xfrm>
                <a:off x="3504" y="1584"/>
                <a:ext cx="1968" cy="1772"/>
                <a:chOff x="3504" y="1584"/>
                <a:chExt cx="1968" cy="1772"/>
              </a:xfrm>
            </p:grpSpPr>
            <p:sp>
              <p:nvSpPr>
                <p:cNvPr id="15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222" y="1776"/>
                  <a:ext cx="2" cy="9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3504" y="2736"/>
                  <a:ext cx="718" cy="45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Line 11"/>
                <p:cNvSpPr>
                  <a:spLocks noChangeShapeType="1"/>
                </p:cNvSpPr>
                <p:nvPr/>
              </p:nvSpPr>
              <p:spPr bwMode="auto">
                <a:xfrm>
                  <a:off x="4222" y="2728"/>
                  <a:ext cx="11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18" name="Object 12"/>
                <p:cNvGraphicFramePr>
                  <a:graphicFrameLocks noChangeAspect="1"/>
                </p:cNvGraphicFramePr>
                <p:nvPr/>
              </p:nvGraphicFramePr>
              <p:xfrm>
                <a:off x="3504" y="3142"/>
                <a:ext cx="252" cy="2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0" name="Equation" r:id="rId1" imgW="127000" imgH="139700" progId="Equation.3">
                        <p:embed/>
                      </p:oleObj>
                    </mc:Choice>
                    <mc:Fallback>
                      <p:oleObj name="Equation" r:id="rId1" imgW="127000" imgH="139700" progId="Equation.3">
                        <p:embed/>
                        <p:pic>
                          <p:nvPicPr>
                            <p:cNvPr id="0" name="Picture 1547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04" y="3142"/>
                              <a:ext cx="252" cy="2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" name="Object 13"/>
                <p:cNvGraphicFramePr>
                  <a:graphicFrameLocks noChangeAspect="1"/>
                </p:cNvGraphicFramePr>
                <p:nvPr/>
              </p:nvGraphicFramePr>
              <p:xfrm>
                <a:off x="5250" y="2749"/>
                <a:ext cx="222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1" name="Equation" r:id="rId3" imgW="139700" imgH="165100" progId="Equation.3">
                        <p:embed/>
                      </p:oleObj>
                    </mc:Choice>
                    <mc:Fallback>
                      <p:oleObj name="Equation" r:id="rId3" imgW="139700" imgH="165100" progId="Equation.3">
                        <p:embed/>
                        <p:pic>
                          <p:nvPicPr>
                            <p:cNvPr id="0" name="Picture 1548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50" y="2749"/>
                              <a:ext cx="222" cy="2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" name="Object 14"/>
                <p:cNvGraphicFramePr>
                  <a:graphicFrameLocks noChangeAspect="1"/>
                </p:cNvGraphicFramePr>
                <p:nvPr/>
              </p:nvGraphicFramePr>
              <p:xfrm>
                <a:off x="4032" y="1680"/>
                <a:ext cx="202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2" name="Equation" r:id="rId5" imgW="127000" imgH="127000" progId="Equation.3">
                        <p:embed/>
                      </p:oleObj>
                    </mc:Choice>
                    <mc:Fallback>
                      <p:oleObj name="Equation" r:id="rId5" imgW="127000" imgH="127000" progId="Equation.3">
                        <p:embed/>
                        <p:pic>
                          <p:nvPicPr>
                            <p:cNvPr id="0" name="Picture 1548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2" y="1680"/>
                              <a:ext cx="202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" name="Object 15"/>
                <p:cNvGraphicFramePr>
                  <a:graphicFrameLocks noChangeAspect="1"/>
                </p:cNvGraphicFramePr>
                <p:nvPr/>
              </p:nvGraphicFramePr>
              <p:xfrm>
                <a:off x="4032" y="2832"/>
                <a:ext cx="141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3" name="Equation" r:id="rId7" imgW="127000" imgH="203200" progId="Equation.3">
                        <p:embed/>
                      </p:oleObj>
                    </mc:Choice>
                    <mc:Fallback>
                      <p:oleObj name="Equation" r:id="rId7" imgW="127000" imgH="203200" progId="Equation.3">
                        <p:embed/>
                        <p:pic>
                          <p:nvPicPr>
                            <p:cNvPr id="0" name="Picture 1548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2" y="2832"/>
                              <a:ext cx="141" cy="2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16"/>
                <p:cNvGraphicFramePr>
                  <a:graphicFrameLocks noChangeAspect="1"/>
                </p:cNvGraphicFramePr>
                <p:nvPr/>
              </p:nvGraphicFramePr>
              <p:xfrm>
                <a:off x="4368" y="2112"/>
                <a:ext cx="172" cy="2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4" name="Equation" r:id="rId9" imgW="127000" imgH="177165" progId="Equation.3">
                        <p:embed/>
                      </p:oleObj>
                    </mc:Choice>
                    <mc:Fallback>
                      <p:oleObj name="Equation" r:id="rId9" imgW="127000" imgH="177165" progId="Equation.3">
                        <p:embed/>
                        <p:pic>
                          <p:nvPicPr>
                            <p:cNvPr id="0" name="Picture 1548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8" y="2112"/>
                              <a:ext cx="172" cy="23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" name="Object 17"/>
                <p:cNvGraphicFramePr>
                  <a:graphicFrameLocks noChangeAspect="1"/>
                </p:cNvGraphicFramePr>
                <p:nvPr/>
              </p:nvGraphicFramePr>
              <p:xfrm>
                <a:off x="4656" y="2256"/>
                <a:ext cx="155" cy="17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5" name="Equation" r:id="rId11" imgW="114300" imgH="127000" progId="Equation.3">
                        <p:embed/>
                      </p:oleObj>
                    </mc:Choice>
                    <mc:Fallback>
                      <p:oleObj name="Equation" r:id="rId11" imgW="114300" imgH="127000" progId="Equation.3">
                        <p:embed/>
                        <p:pic>
                          <p:nvPicPr>
                            <p:cNvPr id="0" name="Picture 1548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56" y="2256"/>
                              <a:ext cx="155" cy="17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176" y="2592"/>
                  <a:ext cx="144" cy="237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FF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2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224" y="1680"/>
                  <a:ext cx="1008" cy="10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Arc 20"/>
                <p:cNvSpPr/>
                <p:nvPr/>
              </p:nvSpPr>
              <p:spPr bwMode="auto">
                <a:xfrm flipV="1">
                  <a:off x="3984" y="2784"/>
                  <a:ext cx="57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96 h 21600"/>
                    <a:gd name="T4" fmla="*/ 0 w 21600"/>
                    <a:gd name="T5" fmla="*/ 9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Arc 21"/>
                <p:cNvSpPr/>
                <p:nvPr/>
              </p:nvSpPr>
              <p:spPr bwMode="auto">
                <a:xfrm>
                  <a:off x="4224" y="2304"/>
                  <a:ext cx="192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192 w 21600"/>
                    <a:gd name="T3" fmla="*/ 144 h 21600"/>
                    <a:gd name="T4" fmla="*/ 0 w 21600"/>
                    <a:gd name="T5" fmla="*/ 144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4992" y="1584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23"/>
              <p:cNvGrpSpPr>
                <a:grpSpLocks noChangeAspect="1"/>
              </p:cNvGrpSpPr>
              <p:nvPr/>
            </p:nvGrpSpPr>
            <p:grpSpPr bwMode="auto">
              <a:xfrm>
                <a:off x="3888" y="2592"/>
                <a:ext cx="288" cy="240"/>
                <a:chOff x="3888" y="2592"/>
                <a:chExt cx="288" cy="240"/>
              </a:xfrm>
            </p:grpSpPr>
            <p:sp>
              <p:nvSpPr>
                <p:cNvPr id="13" name="AutoShape 24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888" y="2592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3938" y="2610"/>
                  <a:ext cx="187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100" i="1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Idl</a:t>
                  </a:r>
                  <a:endParaRPr lang="en-US"/>
                </a:p>
              </p:txBody>
            </p:sp>
          </p:grpSp>
        </p:grpSp>
        <p:grpSp>
          <p:nvGrpSpPr>
            <p:cNvPr id="6" name="Group 26"/>
            <p:cNvGrpSpPr>
              <a:grpSpLocks noChangeAspect="1"/>
            </p:cNvGrpSpPr>
            <p:nvPr/>
          </p:nvGrpSpPr>
          <p:grpSpPr bwMode="auto">
            <a:xfrm>
              <a:off x="4752" y="1584"/>
              <a:ext cx="229" cy="260"/>
              <a:chOff x="4752" y="1584"/>
              <a:chExt cx="229" cy="260"/>
            </a:xfrm>
          </p:grpSpPr>
          <p:sp>
            <p:nvSpPr>
              <p:cNvPr id="8" name="AutoShape 27"/>
              <p:cNvSpPr>
                <a:spLocks noChangeAspect="1" noChangeArrowheads="1" noTextEdit="1"/>
              </p:cNvSpPr>
              <p:nvPr/>
            </p:nvSpPr>
            <p:spPr bwMode="auto">
              <a:xfrm>
                <a:off x="4752" y="1584"/>
                <a:ext cx="229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 28"/>
              <p:cNvSpPr>
                <a:spLocks noChangeArrowheads="1"/>
              </p:cNvSpPr>
              <p:nvPr/>
            </p:nvSpPr>
            <p:spPr bwMode="auto">
              <a:xfrm>
                <a:off x="4899" y="1717"/>
                <a:ext cx="40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z</a:t>
                </a:r>
                <a:endParaRPr lang="en-US"/>
              </a:p>
            </p:txBody>
          </p:sp>
          <p:sp>
            <p:nvSpPr>
              <p:cNvPr id="10" name="Rectangle 29"/>
              <p:cNvSpPr>
                <a:spLocks noChangeArrowheads="1"/>
              </p:cNvSpPr>
              <p:nvPr/>
            </p:nvSpPr>
            <p:spPr bwMode="auto">
              <a:xfrm>
                <a:off x="4794" y="1605"/>
                <a:ext cx="11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3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endParaRPr lang="en-US"/>
              </a:p>
            </p:txBody>
          </p:sp>
        </p:grpSp>
        <p:sp>
          <p:nvSpPr>
            <p:cNvPr id="7" name="Line 30"/>
            <p:cNvSpPr>
              <a:spLocks noChangeShapeType="1"/>
            </p:cNvSpPr>
            <p:nvPr/>
          </p:nvSpPr>
          <p:spPr bwMode="auto">
            <a:xfrm>
              <a:off x="4272" y="2736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04800" y="152399"/>
            <a:ext cx="8229600" cy="73429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CHƯƠNG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28600" y="978584"/>
            <a:ext cx="6286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0066FF"/>
                </a:solidFill>
                <a:latin typeface="Times New Roman" panose="02020603050405020304" pitchFamily="18" charset="0"/>
              </a:rPr>
              <a:t>Xét</a:t>
            </a:r>
            <a:r>
              <a:rPr lang="en-US" b="1" dirty="0" smtClean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u="sng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 (Arabic)" pitchFamily="26" charset="-78"/>
              </a:rPr>
              <a:t>A Short Current Filament </a:t>
            </a:r>
            <a:r>
              <a:rPr lang="en-US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tạo</a:t>
            </a:r>
            <a:r>
              <a:rPr lang="en-US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thành</a:t>
            </a:r>
            <a:r>
              <a:rPr lang="en-US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en-US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Idl</a:t>
            </a:r>
            <a:r>
              <a:rPr lang="en-US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trên</a:t>
            </a:r>
            <a:r>
              <a:rPr lang="en-US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FF3300"/>
                </a:solidFill>
                <a:latin typeface="Times New Roman" panose="02020603050405020304" pitchFamily="18" charset="0"/>
              </a:rPr>
              <a:t>trục</a:t>
            </a:r>
            <a:r>
              <a:rPr lang="en-US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 z</a:t>
            </a:r>
            <a:endParaRPr lang="en-US" sz="1200" dirty="0"/>
          </a:p>
        </p:txBody>
      </p: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14656" y="1419225"/>
          <a:ext cx="3599888" cy="623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name="Equation" r:id="rId13" imgW="1612900" imgH="279400" progId="Equation.DSMT4">
                  <p:embed/>
                </p:oleObj>
              </mc:Choice>
              <mc:Fallback>
                <p:oleObj name="Equation" r:id="rId13" imgW="1612900" imgH="279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656" y="1419225"/>
                        <a:ext cx="3599888" cy="623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12"/>
          <p:cNvGrpSpPr/>
          <p:nvPr/>
        </p:nvGrpSpPr>
        <p:grpSpPr bwMode="auto">
          <a:xfrm>
            <a:off x="637309" y="1949450"/>
            <a:ext cx="3810000" cy="2071832"/>
            <a:chOff x="576" y="2160"/>
            <a:chExt cx="3072" cy="1531"/>
          </a:xfrm>
        </p:grpSpPr>
        <p:sp>
          <p:nvSpPr>
            <p:cNvPr id="36" name="Text Box 13"/>
            <p:cNvSpPr txBox="1">
              <a:spLocks noChangeArrowheads="1"/>
            </p:cNvSpPr>
            <p:nvPr/>
          </p:nvSpPr>
          <p:spPr bwMode="auto">
            <a:xfrm>
              <a:off x="576" y="2160"/>
              <a:ext cx="3072" cy="1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  <a:p>
              <a:pPr eaLnBrk="1" hangingPunct="1">
                <a:spcBef>
                  <a:spcPct val="50000"/>
                </a:spcBef>
              </a:pPr>
              <a:endParaRPr lang="en-US"/>
            </a:p>
            <a:p>
              <a:pPr eaLnBrk="1" hangingPunct="1">
                <a:spcBef>
                  <a:spcPct val="50000"/>
                </a:spcBef>
              </a:pPr>
              <a:endParaRPr lang="en-US"/>
            </a:p>
            <a:p>
              <a:pPr eaLnBrk="1" hangingPunct="1">
                <a:spcBef>
                  <a:spcPct val="50000"/>
                </a:spcBef>
              </a:pPr>
              <a:endParaRPr lang="en-US"/>
            </a:p>
            <a:p>
              <a:pPr eaLnBrk="1" hangingPunct="1">
                <a:spcBef>
                  <a:spcPct val="50000"/>
                </a:spcBef>
              </a:pPr>
              <a:endParaRPr lang="en-US"/>
            </a:p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37" name="Group 14"/>
            <p:cNvGrpSpPr/>
            <p:nvPr/>
          </p:nvGrpSpPr>
          <p:grpSpPr bwMode="auto">
            <a:xfrm>
              <a:off x="639" y="2256"/>
              <a:ext cx="2997" cy="1319"/>
              <a:chOff x="351" y="2784"/>
              <a:chExt cx="2997" cy="1319"/>
            </a:xfrm>
          </p:grpSpPr>
          <p:grpSp>
            <p:nvGrpSpPr>
              <p:cNvPr id="38" name="Group 15"/>
              <p:cNvGrpSpPr/>
              <p:nvPr/>
            </p:nvGrpSpPr>
            <p:grpSpPr bwMode="auto">
              <a:xfrm>
                <a:off x="351" y="3264"/>
                <a:ext cx="2997" cy="839"/>
                <a:chOff x="351" y="3264"/>
                <a:chExt cx="2997" cy="839"/>
              </a:xfrm>
            </p:grpSpPr>
            <p:graphicFrame>
              <p:nvGraphicFramePr>
                <p:cNvPr id="40" name="Object 16"/>
                <p:cNvGraphicFramePr>
                  <a:graphicFrameLocks noChangeAspect="1"/>
                </p:cNvGraphicFramePr>
                <p:nvPr/>
              </p:nvGraphicFramePr>
              <p:xfrm>
                <a:off x="351" y="3744"/>
                <a:ext cx="2114" cy="3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7" name="Equation" r:id="rId15" imgW="1727200" imgH="292100" progId="Equation.DSMT4">
                        <p:embed/>
                      </p:oleObj>
                    </mc:Choice>
                    <mc:Fallback>
                      <p:oleObj name="Equation" r:id="rId15" imgW="1727200" imgH="292100" progId="Equation.DSMT4">
                        <p:embed/>
                        <p:pic>
                          <p:nvPicPr>
                            <p:cNvPr id="0" name="Picture 1548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1" y="3744"/>
                              <a:ext cx="2114" cy="3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00FF00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" name="Object 17"/>
                <p:cNvGraphicFramePr>
                  <a:graphicFrameLocks noChangeAspect="1"/>
                </p:cNvGraphicFramePr>
                <p:nvPr/>
              </p:nvGraphicFramePr>
              <p:xfrm>
                <a:off x="361" y="3264"/>
                <a:ext cx="2987" cy="4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88" name="Equation" r:id="rId17" imgW="2233930" imgH="304800" progId="Equation.DSMT4">
                        <p:embed/>
                      </p:oleObj>
                    </mc:Choice>
                    <mc:Fallback>
                      <p:oleObj name="Equation" r:id="rId17" imgW="2233930" imgH="304800" progId="Equation.DSMT4">
                        <p:embed/>
                        <p:pic>
                          <p:nvPicPr>
                            <p:cNvPr id="0" name="Picture 1548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1" y="3264"/>
                              <a:ext cx="2987" cy="40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00FF00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9" name="Object 18"/>
              <p:cNvGraphicFramePr>
                <a:graphicFrameLocks noChangeAspect="1"/>
              </p:cNvGraphicFramePr>
              <p:nvPr/>
            </p:nvGraphicFramePr>
            <p:xfrm>
              <a:off x="402" y="2784"/>
              <a:ext cx="2693" cy="4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89" name="Equation" r:id="rId19" imgW="1905000" imgH="292100" progId="Equation.DSMT4">
                      <p:embed/>
                    </p:oleObj>
                  </mc:Choice>
                  <mc:Fallback>
                    <p:oleObj name="Equation" r:id="rId19" imgW="1905000" imgH="292100" progId="Equation.DSMT4">
                      <p:embed/>
                      <p:pic>
                        <p:nvPicPr>
                          <p:cNvPr id="0" name="Picture 154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" y="2784"/>
                            <a:ext cx="2693" cy="4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637309" y="5334000"/>
          <a:ext cx="65500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0" name="Equation" r:id="rId21" imgW="3149600" imgH="292100" progId="Equation.DSMT4">
                  <p:embed/>
                </p:oleObj>
              </mc:Choice>
              <mc:Fallback>
                <p:oleObj name="Equation" r:id="rId21" imgW="3149600" imgH="29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09" y="5334000"/>
                        <a:ext cx="65500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457200" y="4800601"/>
          <a:ext cx="7353300" cy="592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1" name="Equation" r:id="rId23" imgW="3771900" imgH="304800" progId="Equation.DSMT4">
                  <p:embed/>
                </p:oleObj>
              </mc:Choice>
              <mc:Fallback>
                <p:oleObj name="Equation" r:id="rId23" imgW="3771900" imgH="304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800601"/>
                        <a:ext cx="7353300" cy="592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43"/>
          <p:cNvSpPr/>
          <p:nvPr/>
        </p:nvSpPr>
        <p:spPr>
          <a:xfrm>
            <a:off x="284018" y="4288765"/>
            <a:ext cx="6286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0066FF"/>
                </a:solidFill>
                <a:latin typeface="Times New Roman" panose="02020603050405020304" pitchFamily="18" charset="0"/>
              </a:rPr>
              <a:t>Xét</a:t>
            </a:r>
            <a:r>
              <a:rPr lang="en-US" b="1" dirty="0" smtClean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u="sng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 (Arabic)" pitchFamily="26" charset="-78"/>
              </a:rPr>
              <a:t>Far </a:t>
            </a:r>
            <a:r>
              <a:rPr lang="en-US" b="1" i="1" u="sng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 (Arabic)" pitchFamily="26" charset="-78"/>
              </a:rPr>
              <a:t>feild</a:t>
            </a:r>
            <a:endParaRPr lang="en-US" sz="1200" dirty="0"/>
          </a:p>
        </p:txBody>
      </p:sp>
      <p:graphicFrame>
        <p:nvGraphicFramePr>
          <p:cNvPr id="46" name="Object 45"/>
          <p:cNvGraphicFramePr>
            <a:graphicFrameLocks noChangeAspect="1"/>
          </p:cNvGraphicFramePr>
          <p:nvPr/>
        </p:nvGraphicFramePr>
        <p:xfrm>
          <a:off x="1066800" y="3768275"/>
          <a:ext cx="4267200" cy="520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2" name="Equation" r:id="rId25" imgW="2602230" imgH="317500" progId="Equation.DSMT4">
                  <p:embed/>
                </p:oleObj>
              </mc:Choice>
              <mc:Fallback>
                <p:oleObj name="Equation" r:id="rId25" imgW="2602230" imgH="317500" progId="Equation.DSMT4">
                  <p:embed/>
                  <p:pic>
                    <p:nvPicPr>
                      <p:cNvPr id="0" name="Picture 15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768275"/>
                        <a:ext cx="4267200" cy="520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284018" y="5867400"/>
          <a:ext cx="3225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3" name="Equation" r:id="rId27" imgW="1548765" imgH="254000" progId="Equation.DSMT4">
                  <p:embed/>
                </p:oleObj>
              </mc:Choice>
              <mc:Fallback>
                <p:oleObj name="Equation" r:id="rId27" imgW="1548765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18" y="5867400"/>
                        <a:ext cx="32258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/>
          <p:cNvGraphicFramePr>
            <a:graphicFrameLocks noChangeAspect="1"/>
          </p:cNvGraphicFramePr>
          <p:nvPr/>
        </p:nvGraphicFramePr>
        <p:xfrm>
          <a:off x="3462337" y="5867400"/>
          <a:ext cx="568166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4" name="Equation" r:id="rId29" imgW="2730500" imgH="254000" progId="Equation.3">
                  <p:embed/>
                </p:oleObj>
              </mc:Choice>
              <mc:Fallback>
                <p:oleObj name="Equation" r:id="rId29" imgW="27305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337" y="5867400"/>
                        <a:ext cx="568166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457200" y="6497933"/>
          <a:ext cx="1866900" cy="360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5" name="Equation" r:id="rId31" imgW="1193800" imgH="228600" progId="Equation.3">
                  <p:embed/>
                </p:oleObj>
              </mc:Choice>
              <mc:Fallback>
                <p:oleObj name="Equation" r:id="rId31" imgW="11938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6497933"/>
                        <a:ext cx="1866900" cy="360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19500" y="750332"/>
            <a:ext cx="2761152" cy="1688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877262" y="32450"/>
            <a:ext cx="2532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Hertzian</a:t>
            </a:r>
            <a:r>
              <a:rPr lang="en-US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Dipole Antenna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7234" y="1594366"/>
          <a:ext cx="2635471" cy="789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2" imgW="1397000" imgH="419100" progId="Equation.DSMT4">
                  <p:embed/>
                </p:oleObj>
              </mc:Choice>
              <mc:Fallback>
                <p:oleObj name="Equation" r:id="rId2" imgW="1397000" imgH="4191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34" y="1594366"/>
                        <a:ext cx="2635471" cy="789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97234" y="2465559"/>
          <a:ext cx="2571258" cy="807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quation" r:id="rId4" imgW="1333500" imgH="419100" progId="Equation.DSMT4">
                  <p:embed/>
                </p:oleObj>
              </mc:Choice>
              <mc:Fallback>
                <p:oleObj name="Equation" r:id="rId4" imgW="1333500" imgH="419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34" y="2465559"/>
                        <a:ext cx="2571258" cy="807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7234" y="750332"/>
            <a:ext cx="2380028" cy="645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73725" y="565666"/>
            <a:ext cx="2286000" cy="1899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62598" y="3352800"/>
          <a:ext cx="5257800" cy="754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Equation" r:id="rId8" imgW="2921000" imgH="419100" progId="Equation.DSMT4">
                  <p:embed/>
                </p:oleObj>
              </mc:Choice>
              <mc:Fallback>
                <p:oleObj name="Equation" r:id="rId8" imgW="29210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98" y="3352800"/>
                        <a:ext cx="5257800" cy="754151"/>
                      </a:xfrm>
                      <a:prstGeom prst="rect">
                        <a:avLst/>
                      </a:prstGeom>
                      <a:solidFill>
                        <a:schemeClr val="bg1">
                          <a:alpha val="2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97234" y="4191000"/>
          <a:ext cx="3482975" cy="2477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Equation" r:id="rId10" imgW="2641600" imgH="1879600" progId="Equation.DSMT4">
                  <p:embed/>
                </p:oleObj>
              </mc:Choice>
              <mc:Fallback>
                <p:oleObj name="Equation" r:id="rId10" imgW="2641600" imgH="1879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34" y="4191000"/>
                        <a:ext cx="3482975" cy="2477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724400" y="4191000"/>
          <a:ext cx="183611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Equation" r:id="rId12" imgW="1028700" imgH="469900" progId="Equation.3">
                  <p:embed/>
                </p:oleObj>
              </mc:Choice>
              <mc:Fallback>
                <p:oleObj name="Equation" r:id="rId12" imgW="1028700" imgH="469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191000"/>
                        <a:ext cx="1836111" cy="838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627469" y="5486400"/>
          <a:ext cx="286154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14" imgW="1688465" imgH="444500" progId="Equation.DSMT4">
                  <p:embed/>
                </p:oleObj>
              </mc:Choice>
              <mc:Fallback>
                <p:oleObj name="Equation" r:id="rId14" imgW="1688465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7469" y="5486400"/>
                        <a:ext cx="286154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7467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Chương</a:t>
            </a:r>
            <a:r>
              <a:rPr lang="en-US" dirty="0" smtClean="0">
                <a:solidFill>
                  <a:srgbClr val="FF0000"/>
                </a:solidFill>
              </a:rPr>
              <a:t> 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0" y="685800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</a:rPr>
              <a:t>Khái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</a:rPr>
              <a:t>niệm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</a:rPr>
              <a:t>dãy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</a:rPr>
              <a:t>Anten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altLang="en-US" sz="2800" dirty="0" smtClean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396875" y="1697182"/>
            <a:ext cx="3790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Tröôøng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böùc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xaï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ôû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vuøng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laø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396875" y="1239982"/>
            <a:ext cx="257746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xeùt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bieân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ñoä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7"/>
          <p:cNvGraphicFramePr>
            <a:graphicFrameLocks noChangeAspect="1"/>
          </p:cNvGraphicFramePr>
          <p:nvPr/>
        </p:nvGraphicFramePr>
        <p:xfrm>
          <a:off x="2657475" y="1267691"/>
          <a:ext cx="1485900" cy="48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Equation" r:id="rId1" imgW="673100" imgH="228600" progId="Equation.3">
                  <p:embed/>
                </p:oleObj>
              </mc:Choice>
              <mc:Fallback>
                <p:oleObj name="Equation" r:id="rId1" imgW="673100" imgH="228600" progId="Equation.3">
                  <p:embed/>
                  <p:pic>
                    <p:nvPicPr>
                      <p:cNvPr id="0" name="Picture 174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1267691"/>
                        <a:ext cx="1485900" cy="4872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9927" y="477982"/>
            <a:ext cx="22923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Object 14"/>
          <p:cNvGraphicFramePr>
            <a:graphicFrameLocks noGrp="1" noChangeAspect="1"/>
          </p:cNvGraphicFramePr>
          <p:nvPr>
            <p:ph idx="1"/>
          </p:nvPr>
        </p:nvGraphicFramePr>
        <p:xfrm>
          <a:off x="533400" y="3962400"/>
          <a:ext cx="6096000" cy="870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Equation" r:id="rId4" imgW="3162300" imgH="419100" progId="Equation.3">
                  <p:embed/>
                </p:oleObj>
              </mc:Choice>
              <mc:Fallback>
                <p:oleObj name="Equation" r:id="rId4" imgW="3162300" imgH="419100" progId="Equation.3">
                  <p:embed/>
                  <p:pic>
                    <p:nvPicPr>
                      <p:cNvPr id="0" name="Picture 174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962400"/>
                        <a:ext cx="6096000" cy="8708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427054" y="2189018"/>
          <a:ext cx="7938655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Equation" r:id="rId6" imgW="4457700" imgH="927100" progId="Equation.3">
                  <p:embed/>
                </p:oleObj>
              </mc:Choice>
              <mc:Fallback>
                <p:oleObj name="Equation" r:id="rId6" imgW="4457700" imgH="927100" progId="Equation.3">
                  <p:embed/>
                  <p:pic>
                    <p:nvPicPr>
                      <p:cNvPr id="0" name="Picture 174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54" y="2189018"/>
                        <a:ext cx="7938655" cy="1592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/>
        </p:nvGraphicFramePr>
        <p:xfrm>
          <a:off x="533400" y="5029200"/>
          <a:ext cx="5940425" cy="88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Equation" r:id="rId8" imgW="2984500" imgH="444500" progId="Equation.3">
                  <p:embed/>
                </p:oleObj>
              </mc:Choice>
              <mc:Fallback>
                <p:oleObj name="Equation" r:id="rId8" imgW="2984500" imgH="444500" progId="Equation.3">
                  <p:embed/>
                  <p:pic>
                    <p:nvPicPr>
                      <p:cNvPr id="0" name="Picture 174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029200"/>
                        <a:ext cx="5940425" cy="884805"/>
                      </a:xfrm>
                      <a:prstGeom prst="rect">
                        <a:avLst/>
                      </a:prstGeom>
                      <a:solidFill>
                        <a:srgbClr val="99CCFF">
                          <a:alpha val="2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454763" y="3547854"/>
            <a:ext cx="367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el-GR" dirty="0" smtClean="0"/>
              <a:t>β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elements   </a:t>
            </a:r>
            <a:endParaRPr lang="en-US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11752" y="5987473"/>
          <a:ext cx="3683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Equation" r:id="rId10" imgW="1841500" imgH="431800" progId="Equation.3">
                  <p:embed/>
                </p:oleObj>
              </mc:Choice>
              <mc:Fallback>
                <p:oleObj name="Equation" r:id="rId10" imgW="1841500" imgH="431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752" y="5987473"/>
                        <a:ext cx="3683000" cy="863600"/>
                      </a:xfrm>
                      <a:prstGeom prst="rect">
                        <a:avLst/>
                      </a:prstGeom>
                      <a:solidFill>
                        <a:srgbClr val="FF00FF">
                          <a:alpha val="2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7245350" y="425219"/>
            <a:ext cx="1898650" cy="1549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600" b="0" dirty="0" smtClean="0"/>
              <a:t>Array 2 </a:t>
            </a:r>
            <a:r>
              <a:rPr lang="en-US" sz="1600" b="0" dirty="0" err="1" smtClean="0"/>
              <a:t>phần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tử</a:t>
            </a:r>
            <a:r>
              <a:rPr lang="en-US" sz="1600" b="0" dirty="0" smtClean="0"/>
              <a:t> dipole </a:t>
            </a:r>
            <a:r>
              <a:rPr lang="en-US" sz="1600" b="0" dirty="0" err="1" smtClean="0"/>
              <a:t>chiều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dài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hữu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hạn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đặt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ngang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theo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trục</a:t>
            </a:r>
            <a:r>
              <a:rPr lang="en-US" sz="1600" b="0" dirty="0" smtClean="0"/>
              <a:t> Oz (</a:t>
            </a:r>
            <a:r>
              <a:rPr lang="en-US" sz="1600" b="0" dirty="0" err="1" smtClean="0"/>
              <a:t>trong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mặt</a:t>
            </a:r>
            <a:r>
              <a:rPr lang="en-US" sz="1600" b="0" dirty="0" smtClean="0"/>
              <a:t> </a:t>
            </a:r>
            <a:r>
              <a:rPr lang="en-US" sz="1600" b="0" dirty="0" err="1" smtClean="0"/>
              <a:t>phẳng</a:t>
            </a:r>
            <a:r>
              <a:rPr lang="en-US" sz="1600" b="0" dirty="0" smtClean="0"/>
              <a:t> z0y)</a:t>
            </a:r>
            <a:endParaRPr lang="en-US" sz="1600" b="0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0273" y="1704109"/>
            <a:ext cx="3342614" cy="392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08973" y="1002378"/>
            <a:ext cx="4572000" cy="7004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bôûi</a:t>
            </a:r>
            <a:r>
              <a:rPr lang="en-US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doøng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ñieän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gioáng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veà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vaø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bieân</a:t>
            </a:r>
            <a:r>
              <a:rPr lang="en-US" u="sng" dirty="0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rgbClr val="CC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ñoä</a:t>
            </a:r>
            <a:endParaRPr lang="en-US" u="sng" dirty="0">
              <a:solidFill>
                <a:srgbClr val="CC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28600"/>
            <a:ext cx="9144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thống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thẳng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cách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đều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solidFill>
                  <a:srgbClr val="C00000"/>
                </a:solidFill>
              </a:rPr>
              <a:t>LUEESA</a:t>
            </a:r>
            <a:endParaRPr lang="en-US" sz="3200" dirty="0" smtClean="0">
              <a:solidFill>
                <a:srgbClr val="C00000"/>
              </a:solidFill>
            </a:endParaRPr>
          </a:p>
          <a:p>
            <a:pPr algn="ctr"/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3232" y="5566426"/>
            <a:ext cx="3616696" cy="1284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Moãi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phaàn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töû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ñaúng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höôùng</a:t>
            </a:r>
            <a:endParaRPr lang="en-US" dirty="0" smtClean="0">
              <a:solidFill>
                <a:srgbClr val="0000FF"/>
              </a:solidFill>
              <a:latin typeface="VNI-Times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Bieân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ñoä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doøng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ñieän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kích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thích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ñeàu</a:t>
            </a:r>
            <a:endParaRPr lang="en-US" dirty="0" smtClean="0">
              <a:solidFill>
                <a:srgbClr val="0000FF"/>
              </a:solidFill>
              <a:latin typeface="VNI-Times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Ñoàng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VNI-Times" pitchFamily="2" charset="0"/>
              </a:rPr>
              <a:t>pha</a:t>
            </a:r>
            <a:r>
              <a:rPr lang="en-US" dirty="0" smtClean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VNI-Times" pitchFamily="2" charset="0"/>
                <a:sym typeface="Symbol" panose="05050102010706020507" pitchFamily="18" charset="2"/>
              </a:rPr>
              <a:t> = 0</a:t>
            </a:r>
            <a:endParaRPr lang="en-US" dirty="0">
              <a:solidFill>
                <a:srgbClr val="0000FF"/>
              </a:solidFill>
              <a:latin typeface="VNI-Times" pitchFamily="2" charset="0"/>
              <a:sym typeface="Symbol" panose="05050102010706020507" pitchFamily="18" charset="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494973" y="1475509"/>
          <a:ext cx="640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8" name="Equation" r:id="rId2" imgW="4038600" imgH="241300" progId="Equation.3">
                  <p:embed/>
                </p:oleObj>
              </mc:Choice>
              <mc:Fallback>
                <p:oleObj name="Equation" r:id="rId2" imgW="40386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973" y="1475509"/>
                        <a:ext cx="6400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97236" y="1905000"/>
            <a:ext cx="2518878" cy="2194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565262" y="3276600"/>
          <a:ext cx="1990411" cy="572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9" name="Equation" r:id="rId5" imgW="1752600" imgH="508000" progId="Equation.3">
                  <p:embed/>
                </p:oleObj>
              </mc:Choice>
              <mc:Fallback>
                <p:oleObj name="Equation" r:id="rId5" imgW="1752600" imgH="508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262" y="3276600"/>
                        <a:ext cx="1990411" cy="572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543300" y="4042424"/>
          <a:ext cx="20574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Equation" r:id="rId7" imgW="1104265" imgH="215900" progId="Equation.3">
                  <p:embed/>
                </p:oleObj>
              </mc:Choice>
              <mc:Fallback>
                <p:oleObj name="Equation" r:id="rId7" imgW="1104265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4042424"/>
                        <a:ext cx="20574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622054" y="4575826"/>
          <a:ext cx="23178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9" imgW="1181100" imgH="508000" progId="Equation.3">
                  <p:embed/>
                </p:oleObj>
              </mc:Choice>
              <mc:Fallback>
                <p:oleObj name="Equation" r:id="rId9" imgW="1181100" imgH="508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054" y="4575826"/>
                        <a:ext cx="23178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820596" y="5566426"/>
          <a:ext cx="2209800" cy="1031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Equation" r:id="rId11" imgW="2019300" imgH="939800" progId="Equation.3">
                  <p:embed/>
                </p:oleObj>
              </mc:Choice>
              <mc:Fallback>
                <p:oleObj name="Equation" r:id="rId11" imgW="2019300" imgH="93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0596" y="5566426"/>
                        <a:ext cx="2209800" cy="1031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6248400" y="4419600"/>
          <a:ext cx="2468562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Equation" r:id="rId13" imgW="1422400" imgH="838200" progId="Equation.DSMT4">
                  <p:embed/>
                </p:oleObj>
              </mc:Choice>
              <mc:Fallback>
                <p:oleObj name="Equation" r:id="rId13" imgW="1422400" imgH="838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419600"/>
                        <a:ext cx="2468562" cy="145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838200" y="1981200"/>
          <a:ext cx="17526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1" imgW="927100" imgH="469900" progId="Equation.3">
                  <p:embed/>
                </p:oleObj>
              </mc:Choice>
              <mc:Fallback>
                <p:oleObj name="Equation" r:id="rId1" imgW="927100" imgH="469900" progId="Equation.3">
                  <p:embed/>
                  <p:pic>
                    <p:nvPicPr>
                      <p:cNvPr id="0" name="Picture 204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81200"/>
                        <a:ext cx="1752600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879725" y="2168525"/>
            <a:ext cx="4841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solidFill>
                  <a:srgbClr val="0000FF"/>
                </a:solidFill>
                <a:latin typeface="VNI-Times" pitchFamily="2" charset="0"/>
                <a:sym typeface="Symbol" panose="05050102010706020507" pitchFamily="18" charset="2"/>
              </a:rPr>
              <a:t></a:t>
            </a:r>
            <a:endParaRPr lang="en-US" sz="2400">
              <a:solidFill>
                <a:srgbClr val="0000FF"/>
              </a:solidFill>
              <a:latin typeface="VNI-Times" pitchFamily="2" charset="0"/>
              <a:sym typeface="Symbol" panose="05050102010706020507" pitchFamily="18" charset="2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3800475" y="2028825"/>
          <a:ext cx="18462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3" imgW="977900" imgH="469900" progId="Equation.DSMT4">
                  <p:embed/>
                </p:oleObj>
              </mc:Choice>
              <mc:Fallback>
                <p:oleObj name="Equation" r:id="rId3" imgW="977900" imgH="469900" progId="Equation.DSMT4">
                  <p:embed/>
                  <p:pic>
                    <p:nvPicPr>
                      <p:cNvPr id="0" name="Picture 205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2028825"/>
                        <a:ext cx="1846263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916113" y="2970213"/>
          <a:ext cx="39401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5" imgW="2082800" imgH="495300" progId="Equation.3">
                  <p:embed/>
                </p:oleObj>
              </mc:Choice>
              <mc:Fallback>
                <p:oleObj name="Equation" r:id="rId5" imgW="2082800" imgH="495300" progId="Equation.3">
                  <p:embed/>
                  <p:pic>
                    <p:nvPicPr>
                      <p:cNvPr id="0" name="Picture 205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2970213"/>
                        <a:ext cx="3940175" cy="936625"/>
                      </a:xfrm>
                      <a:prstGeom prst="rect">
                        <a:avLst/>
                      </a:prstGeom>
                      <a:solidFill>
                        <a:srgbClr val="99CCFF">
                          <a:alpha val="2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914400" y="3122613"/>
            <a:ext cx="4841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solidFill>
                  <a:srgbClr val="0000FF"/>
                </a:solidFill>
                <a:latin typeface="VNI-Times" pitchFamily="2" charset="0"/>
                <a:sym typeface="Symbol" panose="05050102010706020507" pitchFamily="18" charset="2"/>
              </a:rPr>
              <a:t></a:t>
            </a:r>
            <a:endParaRPr lang="en-US" sz="2400">
              <a:solidFill>
                <a:srgbClr val="0000FF"/>
              </a:solidFill>
              <a:latin typeface="VNI-Times" pitchFamily="2" charset="0"/>
              <a:sym typeface="Symbol" panose="05050102010706020507" pitchFamily="18" charset="2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6553200" y="3276600"/>
            <a:ext cx="19256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n=1,2,3…</a:t>
            </a:r>
            <a:r>
              <a:rPr 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 …</a:t>
            </a:r>
            <a:r>
              <a:rPr lang="en-US" sz="2400">
                <a:latin typeface="VNI-Times" pitchFamily="2" charset="0"/>
              </a:rPr>
              <a:t> </a:t>
            </a:r>
            <a:endParaRPr lang="en-US" sz="2400">
              <a:latin typeface="VNI-Times" pitchFamily="2" charset="0"/>
            </a:endParaRP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533400" y="4114800"/>
            <a:ext cx="59372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Khi n = 0, N, 2N, 3N, … mN … AF ñaït cöïc ñaïi</a:t>
            </a:r>
            <a:r>
              <a:rPr lang="en-US" sz="2400">
                <a:latin typeface="VNI-Times" pitchFamily="2" charset="0"/>
              </a:rPr>
              <a:t>.</a:t>
            </a:r>
            <a:endParaRPr lang="en-US" sz="2400">
              <a:latin typeface="VNI-Times" pitchFamily="2" charset="0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2133600" y="4646613"/>
          <a:ext cx="3530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Equation" r:id="rId7" imgW="1943100" imgH="304800" progId="Equation.DSMT4">
                  <p:embed/>
                </p:oleObj>
              </mc:Choice>
              <mc:Fallback>
                <p:oleObj name="Equation" r:id="rId7" imgW="1943100" imgH="304800" progId="Equation.DSMT4">
                  <p:embed/>
                  <p:pic>
                    <p:nvPicPr>
                      <p:cNvPr id="0" name="Picture 205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646613"/>
                        <a:ext cx="35306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1828800" y="5180013"/>
          <a:ext cx="40386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Equation" r:id="rId9" imgW="2082800" imgH="469900" progId="Equation.3">
                  <p:embed/>
                </p:oleObj>
              </mc:Choice>
              <mc:Fallback>
                <p:oleObj name="Equation" r:id="rId9" imgW="2082800" imgH="469900" progId="Equation.3">
                  <p:embed/>
                  <p:pic>
                    <p:nvPicPr>
                      <p:cNvPr id="0" name="Picture 20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180013"/>
                        <a:ext cx="4038600" cy="903287"/>
                      </a:xfrm>
                      <a:prstGeom prst="rect">
                        <a:avLst/>
                      </a:prstGeom>
                      <a:solidFill>
                        <a:srgbClr val="99CCFF">
                          <a:alpha val="2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6172200" y="5257800"/>
            <a:ext cx="18573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m = 0,1,2,3…</a:t>
            </a:r>
            <a:r>
              <a:rPr lang="en-US" sz="2400">
                <a:latin typeface="VNI-Times" pitchFamily="2" charset="0"/>
              </a:rPr>
              <a:t> </a:t>
            </a:r>
            <a:endParaRPr lang="en-US" sz="2400">
              <a:latin typeface="VNI-Times" pitchFamily="2" charset="0"/>
            </a:endParaRP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6600825" y="2052638"/>
          <a:ext cx="175101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Equation" r:id="rId11" imgW="926465" imgH="393700" progId="Equation.DSMT4">
                  <p:embed/>
                </p:oleObj>
              </mc:Choice>
              <mc:Fallback>
                <p:oleObj name="Equation" r:id="rId11" imgW="926465" imgH="393700" progId="Equation.DSMT4">
                  <p:embed/>
                  <p:pic>
                    <p:nvPicPr>
                      <p:cNvPr id="0" name="Picture 20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052638"/>
                        <a:ext cx="1751013" cy="744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85800" y="6172200"/>
            <a:ext cx="82216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Trong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thöïc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teá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chuû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yeáu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xeùt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goùc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leäch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pha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l-GR" sz="2400" i="1" dirty="0">
                <a:solidFill>
                  <a:srgbClr val="FF3300"/>
                </a:solidFill>
                <a:latin typeface="VNI-Times" pitchFamily="2" charset="0"/>
              </a:rPr>
              <a:t>ψ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bieán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ñoåi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töø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0 </a:t>
            </a:r>
            <a:r>
              <a:rPr lang="en-US" sz="2400" i="1" dirty="0" err="1">
                <a:solidFill>
                  <a:srgbClr val="FF3300"/>
                </a:solidFill>
                <a:latin typeface="VNI-Times" pitchFamily="2" charset="0"/>
              </a:rPr>
              <a:t>ñeán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 2</a:t>
            </a:r>
            <a:r>
              <a:rPr lang="el-GR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i="1" dirty="0">
                <a:solidFill>
                  <a:srgbClr val="FF3300"/>
                </a:solidFill>
                <a:latin typeface="VNI-Times" pitchFamily="2" charset="0"/>
              </a:rPr>
              <a:t>.</a:t>
            </a:r>
            <a:r>
              <a:rPr lang="en-US" sz="2400" dirty="0">
                <a:solidFill>
                  <a:srgbClr val="0000FF"/>
                </a:solidFill>
                <a:latin typeface="VNI-Times" pitchFamily="2" charset="0"/>
              </a:rPr>
              <a:t> </a:t>
            </a:r>
            <a:endParaRPr lang="en-US" sz="2400" dirty="0">
              <a:solidFill>
                <a:srgbClr val="0000FF"/>
              </a:solidFill>
              <a:latin typeface="VNI-Times" pitchFamily="2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533400" y="1447800"/>
            <a:ext cx="52609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 dirty="0" err="1">
                <a:solidFill>
                  <a:srgbClr val="0000FF"/>
                </a:solidFill>
                <a:latin typeface="VNI-Times" pitchFamily="2" charset="0"/>
              </a:rPr>
              <a:t>Xaùc</a:t>
            </a:r>
            <a:r>
              <a:rPr lang="en-US" sz="2400" dirty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VNI-Times" pitchFamily="2" charset="0"/>
              </a:rPr>
              <a:t>ñònh</a:t>
            </a:r>
            <a:r>
              <a:rPr lang="en-US" sz="2400" dirty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VNI-Times" pitchFamily="2" charset="0"/>
              </a:rPr>
              <a:t>nhöõng</a:t>
            </a:r>
            <a:r>
              <a:rPr lang="en-US" sz="2400" dirty="0">
                <a:solidFill>
                  <a:srgbClr val="0000FF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VNI-Times" pitchFamily="2" charset="0"/>
              </a:rPr>
              <a:t>ñieåm</a:t>
            </a:r>
            <a:r>
              <a:rPr lang="en-US" sz="2400" dirty="0">
                <a:solidFill>
                  <a:srgbClr val="0000FF"/>
                </a:solidFill>
                <a:latin typeface="VNI-Times" pitchFamily="2" charset="0"/>
              </a:rPr>
              <a:t> NULL </a:t>
            </a:r>
            <a:r>
              <a:rPr lang="en-US" sz="2400" dirty="0" err="1">
                <a:solidFill>
                  <a:srgbClr val="0000FF"/>
                </a:solidFill>
                <a:latin typeface="VNI-Times" pitchFamily="2" charset="0"/>
              </a:rPr>
              <a:t>cuûa</a:t>
            </a:r>
            <a:r>
              <a:rPr lang="en-US" sz="2400" dirty="0">
                <a:solidFill>
                  <a:srgbClr val="0000FF"/>
                </a:solidFill>
                <a:latin typeface="VNI-Times" pitchFamily="2" charset="0"/>
              </a:rPr>
              <a:t> array: </a:t>
            </a:r>
            <a:endParaRPr lang="en-US" sz="2400" dirty="0">
              <a:solidFill>
                <a:srgbClr val="0000FF"/>
              </a:solidFill>
              <a:latin typeface="VNI-Times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thống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thẳng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cách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đều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85800" y="1524000"/>
          <a:ext cx="2667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1" imgW="1040765" imgH="203200" progId="Equation.3">
                  <p:embed/>
                </p:oleObj>
              </mc:Choice>
              <mc:Fallback>
                <p:oleObj name="Equation" r:id="rId1" imgW="1040765" imgH="203200" progId="Equation.3">
                  <p:embed/>
                  <p:pic>
                    <p:nvPicPr>
                      <p:cNvPr id="0" name="Picture 194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24000"/>
                        <a:ext cx="26670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6553200" y="1676400"/>
            <a:ext cx="21161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 dirty="0">
                <a:solidFill>
                  <a:srgbClr val="CC3399"/>
                </a:solidFill>
                <a:latin typeface="VNI-Times" pitchFamily="2" charset="0"/>
              </a:rPr>
              <a:t>=&gt; </a:t>
            </a:r>
            <a:r>
              <a:rPr lang="en-US" sz="2400" dirty="0" err="1">
                <a:solidFill>
                  <a:srgbClr val="CC3399"/>
                </a:solidFill>
                <a:latin typeface="VNI-Times" pitchFamily="2" charset="0"/>
              </a:rPr>
              <a:t>Haøm</a:t>
            </a:r>
            <a:r>
              <a:rPr lang="en-US" sz="2400" dirty="0">
                <a:solidFill>
                  <a:srgbClr val="CC3399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CC3399"/>
                </a:solidFill>
                <a:latin typeface="VNI-Times" pitchFamily="2" charset="0"/>
              </a:rPr>
              <a:t>cuûa</a:t>
            </a:r>
            <a:r>
              <a:rPr lang="en-US" sz="2400" dirty="0">
                <a:solidFill>
                  <a:srgbClr val="CC3399"/>
                </a:solidFill>
                <a:latin typeface="VNI-Times" pitchFamily="2" charset="0"/>
              </a:rPr>
              <a:t> </a:t>
            </a:r>
            <a:r>
              <a:rPr lang="el-GR" dirty="0">
                <a:solidFill>
                  <a:srgbClr val="CC3399"/>
                </a:solidFill>
              </a:rPr>
              <a:t>Ψ</a:t>
            </a:r>
            <a:r>
              <a:rPr lang="en-US" sz="2400" dirty="0">
                <a:solidFill>
                  <a:srgbClr val="CC3399"/>
                </a:solidFill>
                <a:latin typeface="VNI-Times" pitchFamily="2" charset="0"/>
              </a:rPr>
              <a:t> </a:t>
            </a:r>
            <a:endParaRPr lang="en-US" sz="2400" dirty="0">
              <a:solidFill>
                <a:srgbClr val="CC3399"/>
              </a:solidFill>
              <a:latin typeface="VNI-Times" pitchFamily="2" charset="0"/>
            </a:endParaRPr>
          </a:p>
        </p:txBody>
      </p:sp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457200" y="2355850"/>
            <a:ext cx="5562600" cy="3892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dirty="0" err="1">
                <a:solidFill>
                  <a:srgbClr val="0000FF"/>
                </a:solidFill>
              </a:rPr>
              <a:t>Nhận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xét</a:t>
            </a:r>
            <a:r>
              <a:rPr lang="en-US" dirty="0">
                <a:solidFill>
                  <a:srgbClr val="0000FF"/>
                </a:solidFill>
              </a:rPr>
              <a:t>:</a:t>
            </a: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Cực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đại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xuất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hiện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tại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l-GR" dirty="0">
                <a:solidFill>
                  <a:srgbClr val="0000FF"/>
                </a:solidFill>
              </a:rPr>
              <a:t>Ψ</a:t>
            </a:r>
            <a:r>
              <a:rPr lang="en-US" dirty="0">
                <a:solidFill>
                  <a:srgbClr val="0000FF"/>
                </a:solidFill>
              </a:rPr>
              <a:t> = 0</a:t>
            </a: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Hàm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chu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kỳ</a:t>
            </a:r>
            <a:r>
              <a:rPr lang="en-US" dirty="0">
                <a:solidFill>
                  <a:srgbClr val="0000FF"/>
                </a:solidFill>
              </a:rPr>
              <a:t> 2</a:t>
            </a:r>
            <a:r>
              <a:rPr lang="el-GR" dirty="0">
                <a:solidFill>
                  <a:srgbClr val="0000FF"/>
                </a:solidFill>
              </a:rPr>
              <a:t>π</a:t>
            </a:r>
            <a:r>
              <a:rPr lang="en-US" dirty="0">
                <a:solidFill>
                  <a:srgbClr val="0000FF"/>
                </a:solidFill>
              </a:rPr>
              <a:t>. </a:t>
            </a:r>
            <a:r>
              <a:rPr lang="en-US" dirty="0" err="1">
                <a:solidFill>
                  <a:srgbClr val="0000FF"/>
                </a:solidFill>
              </a:rPr>
              <a:t>Đối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xứng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xung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quanh</a:t>
            </a:r>
            <a:r>
              <a:rPr lang="en-US" dirty="0">
                <a:solidFill>
                  <a:srgbClr val="0000FF"/>
                </a:solidFill>
              </a:rPr>
              <a:t>   </a:t>
            </a:r>
            <a:r>
              <a:rPr lang="el-GR" dirty="0">
                <a:solidFill>
                  <a:srgbClr val="0000FF"/>
                </a:solidFill>
              </a:rPr>
              <a:t>Ψ</a:t>
            </a:r>
            <a:r>
              <a:rPr lang="en-US" dirty="0">
                <a:solidFill>
                  <a:srgbClr val="0000FF"/>
                </a:solidFill>
              </a:rPr>
              <a:t> = </a:t>
            </a:r>
            <a:r>
              <a:rPr lang="el-GR" dirty="0">
                <a:solidFill>
                  <a:srgbClr val="0000FF"/>
                </a:solidFill>
              </a:rPr>
              <a:t>π</a:t>
            </a:r>
            <a:r>
              <a:rPr lang="en-US" dirty="0">
                <a:solidFill>
                  <a:srgbClr val="0000FF"/>
                </a:solidFill>
              </a:rPr>
              <a:t>.</a:t>
            </a: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N-1 Null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khoảng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cách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bằng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nhau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và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cách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nhau</a:t>
            </a:r>
            <a:r>
              <a:rPr lang="en-US" dirty="0">
                <a:solidFill>
                  <a:srgbClr val="0000FF"/>
                </a:solidFill>
              </a:rPr>
              <a:t> 2</a:t>
            </a:r>
            <a:r>
              <a:rPr lang="el-GR" dirty="0">
                <a:solidFill>
                  <a:srgbClr val="0000FF"/>
                </a:solidFill>
              </a:rPr>
              <a:t>π</a:t>
            </a:r>
            <a:r>
              <a:rPr lang="en-US" dirty="0">
                <a:solidFill>
                  <a:srgbClr val="0000FF"/>
                </a:solidFill>
              </a:rPr>
              <a:t>/N (0&lt;</a:t>
            </a:r>
            <a:r>
              <a:rPr lang="el-GR" dirty="0">
                <a:solidFill>
                  <a:srgbClr val="0000FF"/>
                </a:solidFill>
              </a:rPr>
              <a:t>Ψ</a:t>
            </a:r>
            <a:r>
              <a:rPr lang="en-US" dirty="0">
                <a:solidFill>
                  <a:srgbClr val="0000FF"/>
                </a:solidFill>
              </a:rPr>
              <a:t>&lt;2</a:t>
            </a:r>
            <a:r>
              <a:rPr lang="el-GR" dirty="0">
                <a:solidFill>
                  <a:srgbClr val="0000FF"/>
                </a:solidFill>
              </a:rPr>
              <a:t>π</a:t>
            </a:r>
            <a:r>
              <a:rPr lang="en-US" dirty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N-2 </a:t>
            </a:r>
            <a:r>
              <a:rPr lang="en-US" dirty="0" err="1">
                <a:solidFill>
                  <a:srgbClr val="0000FF"/>
                </a:solidFill>
              </a:rPr>
              <a:t>Sidelopes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độ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rộng</a:t>
            </a:r>
            <a:r>
              <a:rPr lang="en-US" dirty="0">
                <a:solidFill>
                  <a:srgbClr val="0000FF"/>
                </a:solidFill>
              </a:rPr>
              <a:t> 2</a:t>
            </a:r>
            <a:r>
              <a:rPr lang="el-GR" dirty="0">
                <a:solidFill>
                  <a:srgbClr val="0000FF"/>
                </a:solidFill>
              </a:rPr>
              <a:t>π</a:t>
            </a:r>
            <a:r>
              <a:rPr lang="en-US" dirty="0">
                <a:solidFill>
                  <a:srgbClr val="0000FF"/>
                </a:solidFill>
              </a:rPr>
              <a:t>/N. </a:t>
            </a: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Tại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gốc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toạ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độ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búp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sóng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chính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rộng</a:t>
            </a:r>
            <a:r>
              <a:rPr lang="en-US" dirty="0">
                <a:solidFill>
                  <a:srgbClr val="0000FF"/>
                </a:solidFill>
              </a:rPr>
              <a:t> 4</a:t>
            </a:r>
            <a:r>
              <a:rPr lang="el-GR" dirty="0">
                <a:solidFill>
                  <a:srgbClr val="0000FF"/>
                </a:solidFill>
              </a:rPr>
              <a:t>π</a:t>
            </a:r>
            <a:r>
              <a:rPr lang="en-US" dirty="0" smtClean="0">
                <a:solidFill>
                  <a:srgbClr val="0000FF"/>
                </a:solidFill>
              </a:rPr>
              <a:t>/N</a:t>
            </a:r>
            <a:endParaRPr lang="en-US" dirty="0" smtClean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ru-RU" dirty="0">
              <a:solidFill>
                <a:srgbClr val="0000FF"/>
              </a:solidFill>
            </a:endParaRPr>
          </a:p>
        </p:txBody>
      </p:sp>
      <p:grpSp>
        <p:nvGrpSpPr>
          <p:cNvPr id="7" name="Group 58"/>
          <p:cNvGrpSpPr/>
          <p:nvPr/>
        </p:nvGrpSpPr>
        <p:grpSpPr bwMode="auto">
          <a:xfrm>
            <a:off x="5410200" y="2928938"/>
            <a:ext cx="3698875" cy="2320925"/>
            <a:chOff x="3408" y="2085"/>
            <a:chExt cx="2330" cy="1462"/>
          </a:xfrm>
        </p:grpSpPr>
        <p:sp>
          <p:nvSpPr>
            <p:cNvPr id="8" name="Line 2"/>
            <p:cNvSpPr>
              <a:spLocks noChangeShapeType="1"/>
            </p:cNvSpPr>
            <p:nvPr/>
          </p:nvSpPr>
          <p:spPr bwMode="auto">
            <a:xfrm>
              <a:off x="3408" y="3423"/>
              <a:ext cx="20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3"/>
            <p:cNvSpPr/>
            <p:nvPr/>
          </p:nvSpPr>
          <p:spPr bwMode="auto">
            <a:xfrm>
              <a:off x="4105" y="2160"/>
              <a:ext cx="565" cy="1254"/>
            </a:xfrm>
            <a:custGeom>
              <a:avLst/>
              <a:gdLst>
                <a:gd name="T0" fmla="*/ 0 w 576"/>
                <a:gd name="T1" fmla="*/ 2147483647 h 576"/>
                <a:gd name="T2" fmla="*/ 2147483647 w 576"/>
                <a:gd name="T3" fmla="*/ 0 h 576"/>
                <a:gd name="T4" fmla="*/ 2147483647 w 576"/>
                <a:gd name="T5" fmla="*/ 2147483647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0" y="576"/>
                  </a:moveTo>
                  <a:cubicBezTo>
                    <a:pt x="96" y="288"/>
                    <a:pt x="192" y="0"/>
                    <a:pt x="288" y="0"/>
                  </a:cubicBezTo>
                  <a:cubicBezTo>
                    <a:pt x="384" y="0"/>
                    <a:pt x="480" y="288"/>
                    <a:pt x="576" y="57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eaLnBrk="1" hangingPunct="1"/>
              <a:endParaRPr lang="en-US" sz="2800">
                <a:latin typeface="VNI-Times" pitchFamily="2" charset="0"/>
              </a:endParaRPr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3822" y="2981"/>
              <a:ext cx="278" cy="442"/>
            </a:xfrm>
            <a:custGeom>
              <a:avLst/>
              <a:gdLst>
                <a:gd name="T0" fmla="*/ 0 w 576"/>
                <a:gd name="T1" fmla="*/ 2147483647 h 576"/>
                <a:gd name="T2" fmla="*/ 2147483647 w 576"/>
                <a:gd name="T3" fmla="*/ 0 h 576"/>
                <a:gd name="T4" fmla="*/ 2147483647 w 576"/>
                <a:gd name="T5" fmla="*/ 2147483647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0" y="576"/>
                  </a:moveTo>
                  <a:cubicBezTo>
                    <a:pt x="96" y="288"/>
                    <a:pt x="192" y="0"/>
                    <a:pt x="288" y="0"/>
                  </a:cubicBezTo>
                  <a:cubicBezTo>
                    <a:pt x="384" y="0"/>
                    <a:pt x="480" y="288"/>
                    <a:pt x="576" y="57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eaLnBrk="1" hangingPunct="1"/>
              <a:endParaRPr lang="en-US" sz="2800">
                <a:latin typeface="VNI-Times" pitchFamily="2" charset="0"/>
              </a:endParaRPr>
            </a:p>
          </p:txBody>
        </p:sp>
        <p:sp>
          <p:nvSpPr>
            <p:cNvPr id="11" name="Freeform 13"/>
            <p:cNvSpPr/>
            <p:nvPr/>
          </p:nvSpPr>
          <p:spPr bwMode="auto">
            <a:xfrm>
              <a:off x="3544" y="2981"/>
              <a:ext cx="278" cy="442"/>
            </a:xfrm>
            <a:custGeom>
              <a:avLst/>
              <a:gdLst>
                <a:gd name="T0" fmla="*/ 0 w 576"/>
                <a:gd name="T1" fmla="*/ 2147483647 h 576"/>
                <a:gd name="T2" fmla="*/ 2147483647 w 576"/>
                <a:gd name="T3" fmla="*/ 0 h 576"/>
                <a:gd name="T4" fmla="*/ 2147483647 w 576"/>
                <a:gd name="T5" fmla="*/ 2147483647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0" y="576"/>
                  </a:moveTo>
                  <a:cubicBezTo>
                    <a:pt x="96" y="288"/>
                    <a:pt x="192" y="0"/>
                    <a:pt x="288" y="0"/>
                  </a:cubicBezTo>
                  <a:cubicBezTo>
                    <a:pt x="384" y="0"/>
                    <a:pt x="480" y="288"/>
                    <a:pt x="576" y="57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eaLnBrk="1" hangingPunct="1"/>
              <a:endParaRPr lang="en-US" sz="2800">
                <a:latin typeface="VNI-Times" pitchFamily="2" charset="0"/>
              </a:endParaRPr>
            </a:p>
          </p:txBody>
        </p:sp>
        <p:sp>
          <p:nvSpPr>
            <p:cNvPr id="12" name="Freeform 14"/>
            <p:cNvSpPr/>
            <p:nvPr/>
          </p:nvSpPr>
          <p:spPr bwMode="auto">
            <a:xfrm>
              <a:off x="4961" y="2994"/>
              <a:ext cx="278" cy="442"/>
            </a:xfrm>
            <a:custGeom>
              <a:avLst/>
              <a:gdLst>
                <a:gd name="T0" fmla="*/ 0 w 576"/>
                <a:gd name="T1" fmla="*/ 2147483647 h 576"/>
                <a:gd name="T2" fmla="*/ 2147483647 w 576"/>
                <a:gd name="T3" fmla="*/ 0 h 576"/>
                <a:gd name="T4" fmla="*/ 2147483647 w 576"/>
                <a:gd name="T5" fmla="*/ 2147483647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0" y="576"/>
                  </a:moveTo>
                  <a:cubicBezTo>
                    <a:pt x="96" y="288"/>
                    <a:pt x="192" y="0"/>
                    <a:pt x="288" y="0"/>
                  </a:cubicBezTo>
                  <a:cubicBezTo>
                    <a:pt x="384" y="0"/>
                    <a:pt x="480" y="288"/>
                    <a:pt x="576" y="57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eaLnBrk="1" hangingPunct="1"/>
              <a:endParaRPr lang="en-US" sz="2800">
                <a:latin typeface="VNI-Times" pitchFamily="2" charset="0"/>
              </a:endParaRPr>
            </a:p>
          </p:txBody>
        </p:sp>
        <p:sp>
          <p:nvSpPr>
            <p:cNvPr id="13" name="Freeform 15"/>
            <p:cNvSpPr/>
            <p:nvPr/>
          </p:nvSpPr>
          <p:spPr bwMode="auto">
            <a:xfrm>
              <a:off x="4683" y="2994"/>
              <a:ext cx="277" cy="442"/>
            </a:xfrm>
            <a:custGeom>
              <a:avLst/>
              <a:gdLst>
                <a:gd name="T0" fmla="*/ 0 w 576"/>
                <a:gd name="T1" fmla="*/ 2147483647 h 576"/>
                <a:gd name="T2" fmla="*/ 2147483647 w 576"/>
                <a:gd name="T3" fmla="*/ 0 h 576"/>
                <a:gd name="T4" fmla="*/ 2147483647 w 576"/>
                <a:gd name="T5" fmla="*/ 2147483647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0" y="576"/>
                  </a:moveTo>
                  <a:cubicBezTo>
                    <a:pt x="96" y="288"/>
                    <a:pt x="192" y="0"/>
                    <a:pt x="288" y="0"/>
                  </a:cubicBezTo>
                  <a:cubicBezTo>
                    <a:pt x="384" y="0"/>
                    <a:pt x="480" y="288"/>
                    <a:pt x="576" y="57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eaLnBrk="1" hangingPunct="1"/>
              <a:endParaRPr lang="en-US" sz="2800">
                <a:latin typeface="VNI-Times" pitchFamily="2" charset="0"/>
              </a:endParaRPr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5240" y="2085"/>
              <a:ext cx="498" cy="1333"/>
            </a:xfrm>
            <a:custGeom>
              <a:avLst/>
              <a:gdLst>
                <a:gd name="T0" fmla="*/ 0 w 528"/>
                <a:gd name="T1" fmla="*/ 2147483647 h 1136"/>
                <a:gd name="T2" fmla="*/ 2147483647 w 528"/>
                <a:gd name="T3" fmla="*/ 2147483647 h 1136"/>
                <a:gd name="T4" fmla="*/ 2147483647 w 528"/>
                <a:gd name="T5" fmla="*/ 2147483647 h 1136"/>
                <a:gd name="T6" fmla="*/ 0 60000 65536"/>
                <a:gd name="T7" fmla="*/ 0 60000 65536"/>
                <a:gd name="T8" fmla="*/ 0 60000 65536"/>
                <a:gd name="T9" fmla="*/ 0 w 528"/>
                <a:gd name="T10" fmla="*/ 0 h 1136"/>
                <a:gd name="T11" fmla="*/ 528 w 528"/>
                <a:gd name="T12" fmla="*/ 1136 h 1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136">
                  <a:moveTo>
                    <a:pt x="0" y="1136"/>
                  </a:moveTo>
                  <a:cubicBezTo>
                    <a:pt x="76" y="648"/>
                    <a:pt x="152" y="160"/>
                    <a:pt x="240" y="80"/>
                  </a:cubicBezTo>
                  <a:cubicBezTo>
                    <a:pt x="328" y="0"/>
                    <a:pt x="428" y="328"/>
                    <a:pt x="528" y="65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eaLnBrk="1" hangingPunct="1"/>
              <a:endParaRPr lang="en-US" sz="2800">
                <a:latin typeface="VNI-Times" pitchFamily="2" charset="0"/>
              </a:endParaRPr>
            </a:p>
          </p:txBody>
        </p:sp>
        <p:graphicFrame>
          <p:nvGraphicFramePr>
            <p:cNvPr id="15" name="Object 57"/>
            <p:cNvGraphicFramePr>
              <a:graphicFrameLocks noChangeAspect="1"/>
            </p:cNvGraphicFramePr>
            <p:nvPr/>
          </p:nvGraphicFramePr>
          <p:xfrm>
            <a:off x="4336" y="3405"/>
            <a:ext cx="102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9" name="Equation" r:id="rId3" imgW="127000" imgH="177165" progId="Equation.3">
                    <p:embed/>
                  </p:oleObj>
                </mc:Choice>
                <mc:Fallback>
                  <p:oleObj name="Equation" r:id="rId3" imgW="127000" imgH="177165" progId="Equation.3">
                    <p:embed/>
                    <p:pic>
                      <p:nvPicPr>
                        <p:cNvPr id="0" name="Picture 194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6" y="3405"/>
                          <a:ext cx="102" cy="1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15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thống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thẳng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cách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đều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810000" y="1143000"/>
          <a:ext cx="2468563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Equation" r:id="rId5" imgW="1422400" imgH="838200" progId="Equation.DSMT4">
                  <p:embed/>
                </p:oleObj>
              </mc:Choice>
              <mc:Fallback>
                <p:oleObj name="Equation" r:id="rId5" imgW="1422400" imgH="838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143000"/>
                        <a:ext cx="2468563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13615" y="1828800"/>
            <a:ext cx="45720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Xác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định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số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chấn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tử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 N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37414" y="3429000"/>
            <a:ext cx="8626475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Vẽ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nửa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vòng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tròn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bán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kính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kd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có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tâm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tại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l-GR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04800" y="4252912"/>
            <a:ext cx="883919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Chiếu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từ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đồ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thị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sắp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xếp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xuống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đường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tròn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vừa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vẽ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37414" y="2605088"/>
            <a:ext cx="8321675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Vẽ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đồ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thị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hệ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số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giàn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theo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nguyên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tắc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đã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nêu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77090" y="5129064"/>
            <a:ext cx="84709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Lấy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đối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xứng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quanh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trục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hoành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chính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là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Oz)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thống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bức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xạ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thẳng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cách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đều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-1385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Chương</a:t>
            </a:r>
            <a:r>
              <a:rPr lang="en-US" dirty="0" smtClean="0">
                <a:solidFill>
                  <a:srgbClr val="FF0000"/>
                </a:solidFill>
              </a:rPr>
              <a:t>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7419" y="3244334"/>
            <a:ext cx="7009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err="1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600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Introduction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Broadband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dipole antennas were discussed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 of this chapter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numerous other antenna designs that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exhibit greater broadband characteristics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those of the dipoles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of these antenna can also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circular polarization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desired extra feature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many applications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60045" eaLnBrk="0" hangingPunct="0">
              <a:spcBef>
                <a:spcPct val="5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</a:t>
            </a:r>
            <a:r>
              <a:rPr lang="en-US" sz="2800" b="0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conﬁguration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 electromagnetic radiator is that of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conducting wire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wound in the form of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screw thread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forming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helix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Introduction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309255"/>
            <a:ext cx="440055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0" y="6488668"/>
            <a:ext cx="3591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Helical antenna with ground plane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19600" y="1600200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geometrical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conﬁguration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 helix consists usually of: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turns</a:t>
            </a:r>
            <a:endParaRPr lang="en-US" sz="2600" b="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diameter D</a:t>
            </a:r>
            <a:endParaRPr lang="en-US" sz="2600" b="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spacing S between each turn</a:t>
            </a:r>
            <a:endParaRPr lang="en-US" sz="2600" b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19600" y="483709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diameter of the ground plane should be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least 3λ/4</a:t>
            </a:r>
            <a:endParaRPr lang="en-US" sz="2600" b="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Introduction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488668"/>
            <a:ext cx="3591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Helical antenna with ground plane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0" y="1143000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total length of the antenna: </a:t>
            </a:r>
            <a:r>
              <a:rPr lang="en-US" sz="24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NS</a:t>
            </a:r>
            <a:endParaRPr lang="en-US" sz="2600" i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447800"/>
            <a:ext cx="2533650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2743200" y="1676400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total length of the wire:</a:t>
            </a:r>
            <a:endParaRPr lang="en-US" sz="26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2266950"/>
            <a:ext cx="4276725" cy="4762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4648200" y="3362980"/>
            <a:ext cx="449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of the wire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each turn</a:t>
            </a:r>
            <a:endParaRPr lang="en-US" sz="26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2500" y="2895600"/>
            <a:ext cx="3695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19"/>
          <p:cNvSpPr/>
          <p:nvPr/>
        </p:nvSpPr>
        <p:spPr>
          <a:xfrm>
            <a:off x="4648200" y="4429780"/>
            <a:ext cx="449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=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circumference of the helix</a:t>
            </a:r>
            <a:endParaRPr lang="en-US" sz="26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48200" y="5334000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pitch angle </a:t>
            </a:r>
            <a:r>
              <a:rPr lang="el-GR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sz="26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61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76675" y="5781675"/>
            <a:ext cx="52673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7400" y="3124200"/>
            <a:ext cx="252412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Introduction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447800"/>
            <a:ext cx="91440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= 0</a:t>
            </a:r>
            <a:r>
              <a:rPr lang="en-US" sz="2800" b="0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helix reduces to a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antenna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8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turns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= 90</a:t>
            </a:r>
            <a:r>
              <a:rPr lang="en-US" sz="2800" b="0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the helix reduces to a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wire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&lt;α&lt; 90</a:t>
            </a:r>
            <a:r>
              <a:rPr lang="en-US" sz="2800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a </a:t>
            </a:r>
            <a:r>
              <a:rPr lang="en-US" sz="28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helix</a:t>
            </a:r>
            <a:r>
              <a:rPr 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formed !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335280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characteristics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varied by controlling the size of its geometrical properties compared to the wavelength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impedance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critically dependent upon the pitch angle and the size of the conducting wire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polarization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antenna is elliptical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However circular and linear polarizations can be achieved over different frequency ranges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Operation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776189"/>
            <a:ext cx="91440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helical antenna can operate in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modes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two principal ones are the </a:t>
            </a:r>
            <a:r>
              <a:rPr lang="en-US" sz="2800" i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(broadside) and the </a:t>
            </a:r>
            <a:r>
              <a:rPr lang="en-US" sz="2800" i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axial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(end-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modes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3352800"/>
            <a:ext cx="3810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3063232"/>
            <a:ext cx="2962275" cy="3489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1143000" y="6488668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Three-dimensional normalized amplitude linear power patterns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Operation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776189"/>
            <a:ext cx="91440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Mode: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three-dimensional amplitude patterns maximum in a plane normal to the axis and is nearly null along the axis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Axial mode: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its maximum along the axis of the helix, and it is similar to that of an end-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axial (end-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mode is usually the most practical because it can achieve circular polarization over a wider bandwidth and it is more efficient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Normal Mode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524000"/>
            <a:ext cx="91440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achieve the normal mode of operation, the dimensions of the helix are usually small compared to the wavelength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sz="2800" b="0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 </a:t>
            </a:r>
            <a:r>
              <a:rPr lang="el-GR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l-GR" sz="2800" b="0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800" b="0" baseline="-250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43500" y="2628900"/>
            <a:ext cx="400050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0" y="3329211"/>
            <a:ext cx="5715000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geometry of the helix reduces to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loop of diameter D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pitch angle approaches zero and to a linear wire of length S when it approaches 90</a:t>
            </a:r>
            <a:r>
              <a:rPr lang="en-US" sz="2800" b="0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limiting geometries of the helix are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loop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dipole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Normal Mode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524000"/>
            <a:ext cx="9144000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far-zone electric </a:t>
            </a:r>
            <a:r>
              <a:rPr lang="en-US" sz="2800" b="0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ﬁeld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radiated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short dipole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length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constant current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0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b="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(where </a:t>
            </a:r>
            <a:r>
              <a:rPr lang="en-US" sz="2800" b="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being replaced by S)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electric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ﬁeld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radiated by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loop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(where D/2 is substituted for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57400" y="2943225"/>
            <a:ext cx="38576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5391906"/>
            <a:ext cx="4191000" cy="856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Normal Mode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524000"/>
            <a:ext cx="9144000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ratio of the magnitudes of the 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components is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deﬁned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 are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special cases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when                   leading to a linearly polarized wave of horizontal polarization (the helix is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loop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 =∞, E</a:t>
            </a:r>
            <a:r>
              <a:rPr lang="el-GR" sz="2800" b="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l-GR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radiated wave is linearly polarized with vertical polarization (the helix is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vertical dipole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81200" y="2362200"/>
            <a:ext cx="507682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648200"/>
            <a:ext cx="12858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4648200"/>
            <a:ext cx="1200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Normal Mode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524000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 are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special cases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 = 1 when                         or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v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dimensional parameters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helix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satisfy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above relation, the radiated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ﬁeld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circularly polarized in all directions other than θ = 0</a:t>
            </a:r>
            <a:r>
              <a:rPr lang="en-US" sz="2800" b="0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the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ﬁelds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vanish</a:t>
            </a:r>
            <a:endParaRPr lang="en-US" sz="2800" b="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38400" y="1981200"/>
            <a:ext cx="19335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161310"/>
            <a:ext cx="31908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971800"/>
            <a:ext cx="32480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Normal Mode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524000"/>
            <a:ext cx="9144000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v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Because of the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dependence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radiation characteristics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geometrical dimensions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must be very small compared to the wavelength, this mode of operation is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narrow in bandwidth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radiation 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efﬁciency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very small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Practically  this mode of operation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limited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it is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seldom utilized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Axial Mode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44780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 is only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major lobe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maximum radiation intensity is along the axis of the helix. The minor lobes are at oblique angles to the axis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048000"/>
            <a:ext cx="59436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excite this mode, 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8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&gt;&gt; 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endParaRPr lang="en-US" sz="2800" b="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achieve circular polarization,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Circumference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(</a:t>
            </a: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C/λ</a:t>
            </a:r>
            <a:r>
              <a:rPr lang="en-US" sz="2800" b="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 near optimum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spacing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pitch angle is usually 12</a:t>
            </a:r>
            <a:r>
              <a:rPr lang="en-US" sz="2800" b="0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 α ≤14</a:t>
            </a:r>
            <a:r>
              <a:rPr lang="en-US" sz="2800" b="0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endParaRPr lang="en-US" sz="2800" b="0" baseline="300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867400" y="2438400"/>
            <a:ext cx="3276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343400"/>
            <a:ext cx="2590800" cy="5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5447598"/>
            <a:ext cx="1644227" cy="468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Axial Mode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447800"/>
            <a:ext cx="9144000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v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often the antenna is used in conjunction with a ground plane, whose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 is at least λ</a:t>
            </a:r>
            <a:r>
              <a:rPr lang="en-US" sz="2800" b="0" u="sng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it is fed by a coaxial line. However, other types of feeds (such as waveguides and dielectric rods) are possible, especially at microwave  frequencies. The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dimensions of the helix for this mode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operation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not as critical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thus resulting in </a:t>
            </a:r>
            <a:r>
              <a:rPr lang="en-US" sz="2800" b="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greater bandwidth</a:t>
            </a:r>
            <a:endParaRPr lang="en-US" sz="2800" b="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71600"/>
            <a:ext cx="9144000" cy="497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impedance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 = 100÷200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ohms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Empirical expressions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impedance:                                accurate to about ±20%</a:t>
            </a: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half-power </a:t>
            </a:r>
            <a:r>
              <a:rPr lang="en-US" sz="26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beamwidth</a:t>
            </a: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beamwidth</a:t>
            </a: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nulls:</a:t>
            </a: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71800" y="2527042"/>
            <a:ext cx="2133600" cy="891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692235"/>
            <a:ext cx="4141007" cy="98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5109400"/>
            <a:ext cx="4533597" cy="10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71600"/>
            <a:ext cx="9144000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impedance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 = 100÷200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ohms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Empirical expressions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directivity: </a:t>
            </a: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axial ratio: </a:t>
            </a: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90800" y="2895600"/>
            <a:ext cx="4695825" cy="9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648200"/>
            <a:ext cx="23622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31042"/>
            <a:ext cx="9144000" cy="533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Empirical expressions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normalized far-</a:t>
            </a:r>
            <a:r>
              <a:rPr lang="en-US" sz="26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ﬁeld</a:t>
            </a: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pattern:</a:t>
            </a: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these relations are approximately valid provided 12</a:t>
            </a:r>
            <a:r>
              <a:rPr lang="en-US" sz="2600" b="0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&lt;α&lt; 14</a:t>
            </a:r>
            <a:r>
              <a:rPr lang="en-US" sz="2600" b="0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3/4 &lt; C/λ</a:t>
            </a:r>
            <a:r>
              <a:rPr lang="en-US" sz="2600" b="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4/3, and N &gt; 3</a:t>
            </a:r>
            <a:endParaRPr lang="en-US" sz="26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85925" y="2626442"/>
            <a:ext cx="2961186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695325" y="2743599"/>
            <a:ext cx="1295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sz="2600" b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409961"/>
            <a:ext cx="7924800" cy="2153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863434"/>
            <a:ext cx="4381500" cy="796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31042"/>
            <a:ext cx="9144000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US" sz="2800" b="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10-turn helix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operate in </a:t>
            </a:r>
            <a:r>
              <a:rPr lang="en-US" sz="2800" b="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axial mode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For an optimum design. Determine the: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Circumference (in λ</a:t>
            </a:r>
            <a:r>
              <a:rPr lang="en-US" sz="2800" b="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pitch angle (in degrees), and separation between turns (in λ</a:t>
            </a:r>
            <a:r>
              <a:rPr lang="en-US" sz="2800" b="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Relative (to free space) wave velocity along the wire of the helix for: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Ordinary end-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ii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Hansen-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Woodyard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31042"/>
            <a:ext cx="91440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US" sz="2800" b="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10-turn helix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operate in </a:t>
            </a:r>
            <a:r>
              <a:rPr lang="en-US" sz="2800" b="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axial mode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For an optimum design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Half-power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beamwidth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main lobe (in degrees)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Directivity (in dB) using a formula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Axial ratio (dimensionless and in dB)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31042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Circumference (in λ</a:t>
            </a:r>
            <a:r>
              <a:rPr lang="en-US" sz="2800" b="0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pitch angle (in degrees), and separation between turns (in λ</a:t>
            </a:r>
            <a:r>
              <a:rPr lang="en-US" sz="2800" b="0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1800"/>
              </a:spcBef>
              <a:buFont typeface="Wingdings" panose="05000000000000000000" pitchFamily="2" charset="2"/>
              <a:buChar char="v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an optimum design: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1800"/>
              </a:spcBef>
            </a:pPr>
            <a:r>
              <a:rPr lang="es-E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⇒ S = </a:t>
            </a:r>
            <a:r>
              <a:rPr lang="es-E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C.tanα</a:t>
            </a:r>
            <a:r>
              <a:rPr lang="es-E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λ</a:t>
            </a:r>
            <a:r>
              <a:rPr lang="es-ES" sz="2800" b="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.tan(13</a:t>
            </a:r>
            <a:r>
              <a:rPr lang="es-ES" sz="2800" b="0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r>
              <a:rPr lang="es-E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0.231λ</a:t>
            </a:r>
            <a:r>
              <a:rPr lang="es-ES" sz="2800" b="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800" b="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(to free space) wave velocity along the wire of the helix for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Ordinary end-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sz="2800" b="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ii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Hansen-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Woodyard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end-</a:t>
            </a:r>
            <a:r>
              <a:rPr lang="en-US" sz="2800" b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sz="2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4191000" y="3086100"/>
          <a:ext cx="1079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1" imgW="431800" imgH="228600" progId="Equation.DSMT4">
                  <p:embed/>
                </p:oleObj>
              </mc:Choice>
              <mc:Fallback>
                <p:oleObj name="Equation" r:id="rId1" imgW="431800" imgH="228600" progId="Equation.DSMT4">
                  <p:embed/>
                  <p:pic>
                    <p:nvPicPr>
                      <p:cNvPr id="0" name="Picture 215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086100"/>
                        <a:ext cx="1079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5638800" y="3048000"/>
          <a:ext cx="1146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3" imgW="482600" imgH="203200" progId="Equation.DSMT4">
                  <p:embed/>
                </p:oleObj>
              </mc:Choice>
              <mc:Fallback>
                <p:oleObj name="Equation" r:id="rId3" imgW="482600" imgH="203200" progId="Equation.DSMT4">
                  <p:embed/>
                  <p:pic>
                    <p:nvPicPr>
                      <p:cNvPr id="0" name="Picture 215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048000"/>
                        <a:ext cx="11461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31042"/>
            <a:ext cx="914400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b. The length of a single turn is: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 the relative wave velocity is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spcBef>
                <a:spcPts val="1800"/>
              </a:spcBef>
              <a:buAutoNum type="romanLcPeriod"/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Ordinary end-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spcBef>
                <a:spcPts val="1800"/>
              </a:spcBef>
              <a:buAutoNum type="romanLcPeriod"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spcBef>
                <a:spcPts val="1800"/>
              </a:spcBef>
            </a:pP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Hansen-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Woodyard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end-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ﬁre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1000" y="2005445"/>
            <a:ext cx="27051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6490" y="1981200"/>
            <a:ext cx="360997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2525" y="2043545"/>
            <a:ext cx="19050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3124200"/>
            <a:ext cx="34956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220" y="4204855"/>
            <a:ext cx="36576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8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5257800"/>
            <a:ext cx="51339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9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05400" y="5279388"/>
            <a:ext cx="4038600" cy="92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31042"/>
            <a:ext cx="9144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half-power </a:t>
            </a:r>
            <a:r>
              <a:rPr lang="en-US" sz="2800" b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beamwidth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Directivity (in dB) using a formula: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1676400"/>
            <a:ext cx="30670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819400"/>
            <a:ext cx="26384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971800"/>
            <a:ext cx="18859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3733800"/>
            <a:ext cx="254317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4724400"/>
            <a:ext cx="74009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57600" y="5257800"/>
            <a:ext cx="22098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BD92-E503-46F2-9C0C-99EFF4E24503}" type="slidenum">
              <a:rPr lang="en-US" smtClean="0"/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0" y="879765"/>
            <a:ext cx="9144000" cy="5659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360045" eaLnBrk="0" hangingPunct="0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solidFill>
                  <a:srgbClr val="C00000"/>
                </a:solidFill>
              </a:rPr>
              <a:t> Design Procedure</a:t>
            </a:r>
            <a:endParaRPr lang="en-US" sz="2800" dirty="0" smtClean="0">
              <a:solidFill>
                <a:srgbClr val="C00000"/>
              </a:solidFill>
            </a:endParaRPr>
          </a:p>
          <a:p>
            <a:pPr defTabSz="360045" eaLnBrk="0" hangingPunct="0">
              <a:spcBef>
                <a:spcPct val="50000"/>
              </a:spcBef>
              <a:buNone/>
              <a:defRPr/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86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Anten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xoắn</a:t>
            </a:r>
            <a:r>
              <a:rPr 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Times New Roman" panose="02020603050405020304" pitchFamily="18" charset="0"/>
              </a:rPr>
              <a:t> Helix – Helical Antenna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0" y="74815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r"/>
            <a:endParaRPr lang="ja-JP" altLang="en-US">
              <a:ea typeface="MS PGothic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331042"/>
            <a:ext cx="9144000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8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axial ratio:</a:t>
            </a: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endParaRPr lang="en-US" sz="2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90800" y="1676400"/>
            <a:ext cx="24003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53220" y="2694710"/>
            <a:ext cx="549592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657600"/>
            <a:ext cx="17049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12439</Words>
  <Application>WPS Presentation</Application>
  <PresentationFormat>On-screen Show (4:3)</PresentationFormat>
  <Paragraphs>731</Paragraphs>
  <Slides>52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116</vt:i4>
      </vt:variant>
      <vt:variant>
        <vt:lpstr>幻灯片标题</vt:lpstr>
      </vt:variant>
      <vt:variant>
        <vt:i4>52</vt:i4>
      </vt:variant>
    </vt:vector>
  </HeadingPairs>
  <TitlesOfParts>
    <vt:vector size="182" baseType="lpstr">
      <vt:lpstr>Arial</vt:lpstr>
      <vt:lpstr>SimSun</vt:lpstr>
      <vt:lpstr>Wingdings</vt:lpstr>
      <vt:lpstr>Times New Roman</vt:lpstr>
      <vt:lpstr>MS PGothic</vt:lpstr>
      <vt:lpstr>Symbol</vt:lpstr>
      <vt:lpstr>Calibri</vt:lpstr>
      <vt:lpstr>Microsoft YaHei</vt:lpstr>
      <vt:lpstr>Arial Unicode MS</vt:lpstr>
      <vt:lpstr>VNI-Times</vt:lpstr>
      <vt:lpstr>MT Extra</vt:lpstr>
      <vt:lpstr>Times New Roman (Arabic)</vt:lpstr>
      <vt:lpstr>Segoe Print</vt:lpstr>
      <vt:lpstr>Office Theme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TỔNG HỢP KIẾN THỨC VÀ CÔNG THỨC ANTEN </vt:lpstr>
      <vt:lpstr>CHƯƠNG 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CHƯƠNG 2</vt:lpstr>
      <vt:lpstr>CHƯƠNG 2</vt:lpstr>
      <vt:lpstr>CHƯƠNG 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CHƯƠNG 3</vt:lpstr>
      <vt:lpstr>CHƯƠNG 3</vt:lpstr>
      <vt:lpstr>CHƯƠNG 3</vt:lpstr>
      <vt:lpstr>CHƯƠNG 3</vt:lpstr>
      <vt:lpstr>CHƯƠNG 3</vt:lpstr>
      <vt:lpstr>CHƯƠNG 3</vt:lpstr>
      <vt:lpstr>CHƯƠNG 3</vt:lpstr>
      <vt:lpstr>PowerPoint 演示文稿</vt:lpstr>
      <vt:lpstr>Chương 4</vt:lpstr>
      <vt:lpstr>PowerPoint 演示文稿</vt:lpstr>
      <vt:lpstr>PowerPoint 演示文稿</vt:lpstr>
      <vt:lpstr>PowerPoint 演示文稿</vt:lpstr>
      <vt:lpstr>PowerPoint 演示文稿</vt:lpstr>
      <vt:lpstr>Chương 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TỔNG HỢP KIẾN THỨC VÀ CÔNG THỨC ANTEN </dc:title>
  <dc:creator>Windows User</dc:creator>
  <cp:lastModifiedBy>Tokagami Hùng</cp:lastModifiedBy>
  <cp:revision>24</cp:revision>
  <dcterms:created xsi:type="dcterms:W3CDTF">2018-11-11T13:52:00Z</dcterms:created>
  <dcterms:modified xsi:type="dcterms:W3CDTF">2026-09-12T12:51:26Z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25F15855A6754995A5179E4B6127FAF7_12</vt:lpwstr>
  </property>
  <property fmtid="{D5CDD505-2E9C-101B-9397-08002B2CF9AE}" pid="3" name="KSOProductBuildVer">
    <vt:lpwstr>2057-12.2.0.23206</vt:lpwstr>
  </property>
</Properties>
</file>